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827999"/>
          </a:xfrm>
          <a:prstGeom prst="rect">
            <a:avLst/>
          </a:prstGeom>
          <a:solidFill>
            <a:srgbClr val="AD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5580" y="0"/>
            <a:ext cx="4267619" cy="827999"/>
          </a:xfrm>
          <a:prstGeom prst="rect">
            <a:avLst/>
          </a:prstGeom>
          <a:solidFill>
            <a:srgbClr val="FDC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59783" y="0"/>
            <a:ext cx="125999" cy="827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42681" y="0"/>
            <a:ext cx="72000" cy="827999"/>
          </a:xfrm>
          <a:prstGeom prst="rect">
            <a:avLst/>
          </a:prstGeom>
          <a:solidFill>
            <a:srgbClr val="AD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270000"/>
            <a:ext cx="21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[가이아쓰리디]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80000"/>
            <a:ext cx="12193200" cy="2700000"/>
          </a:xfrm>
          <a:prstGeom prst="rect">
            <a:avLst/>
          </a:prstGeom>
          <a:solidFill>
            <a:srgbClr val="F9B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980000"/>
            <a:ext cx="251999" cy="27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2124000"/>
            <a:ext cx="1008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383E4C"/>
                </a:solidFill>
              </a:rPr>
              <a:t>도시교통 디지털트윈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2880000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시뮬레이션 플랫폼 고도화 연구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000" y="3600000"/>
            <a:ext cx="6480000" cy="288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000" y="3618000"/>
            <a:ext cx="630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9BE36"/>
                </a:solidFill>
              </a:rPr>
              <a:t>네트워크 편집  ·  실시간 시뮬레이션  ·  지능형 분석  ·  운영 자동화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0000" y="2232000"/>
            <a:ext cx="1188000" cy="1007999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2000" y="2322000"/>
            <a:ext cx="1044000" cy="45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9BE36"/>
                </a:solidFill>
              </a:rPr>
              <a:t>4개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2000" y="2756160"/>
            <a:ext cx="1044000" cy="20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0B0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2000" y="2967840"/>
            <a:ext cx="104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세부과제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32000" y="2232000"/>
            <a:ext cx="1188000" cy="1007999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4000" y="2322000"/>
            <a:ext cx="1044000" cy="45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9BE36"/>
                </a:solidFill>
              </a:rPr>
              <a:t>12+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4000" y="2756160"/>
            <a:ext cx="1044000" cy="20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0B0"/>
                </a:solidFill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4000" y="2967840"/>
            <a:ext cx="104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핵심기능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764000" y="2232000"/>
            <a:ext cx="1188000" cy="1007999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36000" y="2322000"/>
            <a:ext cx="1044000" cy="45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9BE36"/>
                </a:solidFill>
              </a:rPr>
              <a:t>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6000" y="2756160"/>
            <a:ext cx="1044000" cy="20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0B0"/>
                </a:solidFill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6000" y="2967840"/>
            <a:ext cx="104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연구연도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4788000"/>
            <a:ext cx="12193200" cy="207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4788000"/>
            <a:ext cx="12193200" cy="21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0000" y="5040000"/>
            <a:ext cx="90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E7A"/>
                </a:solidFill>
              </a:rPr>
              <a:t>한국도로공사 도로교통연구원   |   IITP 지원과제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000" y="5328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E7A"/>
                </a:solidFill>
              </a:rPr>
              <a:t>2026. 03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32000"/>
            <a:ext cx="12193200" cy="12599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827999"/>
          </a:xfrm>
          <a:prstGeom prst="rect">
            <a:avLst/>
          </a:prstGeom>
          <a:solidFill>
            <a:srgbClr val="AD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5580" y="0"/>
            <a:ext cx="4267619" cy="827999"/>
          </a:xfrm>
          <a:prstGeom prst="rect">
            <a:avLst/>
          </a:prstGeom>
          <a:solidFill>
            <a:srgbClr val="FDC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59783" y="0"/>
            <a:ext cx="125999" cy="827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42681" y="0"/>
            <a:ext cx="72000" cy="827999"/>
          </a:xfrm>
          <a:prstGeom prst="rect">
            <a:avLst/>
          </a:prstGeom>
          <a:solidFill>
            <a:srgbClr val="AD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270000"/>
            <a:ext cx="21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[가이아쓰리디]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900000"/>
            <a:ext cx="11617199" cy="684000"/>
          </a:xfrm>
          <a:prstGeom prst="rect">
            <a:avLst/>
          </a:prstGeom>
          <a:solidFill>
            <a:srgbClr val="F9B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00" y="900000"/>
            <a:ext cx="162000" cy="684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8000" y="928800"/>
            <a:ext cx="1093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83E4C"/>
                </a:solidFill>
              </a:rPr>
              <a:t>Contents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000" y="1278000"/>
            <a:ext cx="1093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83E4C"/>
                </a:solidFill>
              </a:rPr>
              <a:t>연구 추진 체계 및 세부 과제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" y="1674000"/>
            <a:ext cx="5760000" cy="1080000"/>
          </a:xfrm>
          <a:prstGeom prst="rect">
            <a:avLst/>
          </a:prstGeom>
          <a:solidFill>
            <a:srgbClr val="F0F2F5"/>
          </a:solidFill>
          <a:ln w="6350">
            <a:solidFill>
              <a:srgbClr val="ADB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000" y="1674000"/>
            <a:ext cx="503999" cy="108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000" y="1890000"/>
            <a:ext cx="48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9BE36"/>
                </a:solidFill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7999" y="1800000"/>
            <a:ext cx="50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383E4C"/>
                </a:solidFill>
              </a:rPr>
              <a:t>연구 배경 및 필요성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7999" y="2142000"/>
            <a:ext cx="4500000" cy="1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7999" y="2214000"/>
            <a:ext cx="49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E7A"/>
                </a:solidFill>
              </a:rPr>
              <a:t>교통 혼잡·디지털트윈 정책·기존 한계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000" y="2916000"/>
            <a:ext cx="5760000" cy="1080000"/>
          </a:xfrm>
          <a:prstGeom prst="rect">
            <a:avLst/>
          </a:prstGeom>
          <a:solidFill>
            <a:srgbClr val="F0F2F5"/>
          </a:solidFill>
          <a:ln w="6350">
            <a:solidFill>
              <a:srgbClr val="ADB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4000" y="2916000"/>
            <a:ext cx="503999" cy="108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000" y="3132000"/>
            <a:ext cx="48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9BE36"/>
                </a:solidFill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999" y="3042000"/>
            <a:ext cx="50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383E4C"/>
                </a:solidFill>
              </a:rPr>
              <a:t>기존 플랫폼 현황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7999" y="3384000"/>
            <a:ext cx="4500000" cy="1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999" y="3456000"/>
            <a:ext cx="49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E7A"/>
                </a:solidFill>
              </a:rPr>
              <a:t>핵심 구현 기능 8가지 요약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000" y="4158000"/>
            <a:ext cx="5760000" cy="1080000"/>
          </a:xfrm>
          <a:prstGeom prst="rect">
            <a:avLst/>
          </a:prstGeom>
          <a:solidFill>
            <a:srgbClr val="F0F2F5"/>
          </a:solidFill>
          <a:ln w="6350">
            <a:solidFill>
              <a:srgbClr val="ADB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4000" y="4158000"/>
            <a:ext cx="503999" cy="108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000" y="4374000"/>
            <a:ext cx="48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9BE36"/>
                </a:solidFill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999" y="4284000"/>
            <a:ext cx="50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383E4C"/>
                </a:solidFill>
              </a:rPr>
              <a:t>세부과제 1  네트워크 편집 고도화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7999" y="4626000"/>
            <a:ext cx="4500000" cy="1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7999" y="4698000"/>
            <a:ext cx="49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E7A"/>
                </a:solidFill>
              </a:rPr>
              <a:t>위상검증·OSM임포트·Diff시각화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4000" y="5400000"/>
            <a:ext cx="5760000" cy="1080000"/>
          </a:xfrm>
          <a:prstGeom prst="rect">
            <a:avLst/>
          </a:prstGeom>
          <a:solidFill>
            <a:srgbClr val="F0F2F5"/>
          </a:solidFill>
          <a:ln w="6350">
            <a:solidFill>
              <a:srgbClr val="ADB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4000" y="5400000"/>
            <a:ext cx="503999" cy="108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000" y="5616000"/>
            <a:ext cx="48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9BE36"/>
                </a:solidFill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7999" y="5526000"/>
            <a:ext cx="50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383E4C"/>
                </a:solidFill>
              </a:rPr>
              <a:t>세부과제 2  시뮬레이션 고도화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7999" y="5868000"/>
            <a:ext cx="4500000" cy="1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7999" y="5940000"/>
            <a:ext cx="49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E7A"/>
                </a:solidFill>
              </a:rPr>
              <a:t>실시간연동·이벤트편집기·A/B비교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72000" y="1674000"/>
            <a:ext cx="5760000" cy="1080000"/>
          </a:xfrm>
          <a:prstGeom prst="rect">
            <a:avLst/>
          </a:prstGeom>
          <a:solidFill>
            <a:srgbClr val="F0F2F5"/>
          </a:solidFill>
          <a:ln w="6350">
            <a:solidFill>
              <a:srgbClr val="ADB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2000" y="1674000"/>
            <a:ext cx="503999" cy="108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90000" y="1890000"/>
            <a:ext cx="48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9BE36"/>
                </a:solidFill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65999" y="1800000"/>
            <a:ext cx="50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383E4C"/>
                </a:solidFill>
              </a:rPr>
              <a:t>세부과제 3  분석 기능 확장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65999" y="2142000"/>
            <a:ext cx="4500000" cy="1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65999" y="2214000"/>
            <a:ext cx="49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E7A"/>
                </a:solidFill>
              </a:rPr>
              <a:t>교차로성능·속도프로파일·탄소배출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72000" y="2916000"/>
            <a:ext cx="5760000" cy="1080000"/>
          </a:xfrm>
          <a:prstGeom prst="rect">
            <a:avLst/>
          </a:prstGeom>
          <a:solidFill>
            <a:srgbClr val="F0F2F5"/>
          </a:solidFill>
          <a:ln w="6350">
            <a:solidFill>
              <a:srgbClr val="ADB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72000" y="2916000"/>
            <a:ext cx="503999" cy="108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90000" y="3132000"/>
            <a:ext cx="48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9BE36"/>
                </a:solidFill>
              </a:rPr>
              <a:t>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5999" y="3042000"/>
            <a:ext cx="50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383E4C"/>
                </a:solidFill>
              </a:rPr>
              <a:t>세부과제 4  UX 및 운영 편의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65999" y="3384000"/>
            <a:ext cx="4500000" cy="1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65999" y="3456000"/>
            <a:ext cx="49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E7A"/>
                </a:solidFill>
              </a:rPr>
              <a:t>영상내보내기·자동리포트·협업기능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72000" y="4158000"/>
            <a:ext cx="5760000" cy="1080000"/>
          </a:xfrm>
          <a:prstGeom prst="rect">
            <a:avLst/>
          </a:prstGeom>
          <a:solidFill>
            <a:srgbClr val="F0F2F5"/>
          </a:solidFill>
          <a:ln w="6350">
            <a:solidFill>
              <a:srgbClr val="ADB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72000" y="4158000"/>
            <a:ext cx="503999" cy="108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90000" y="4374000"/>
            <a:ext cx="48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9BE36"/>
                </a:solidFill>
              </a:rPr>
              <a:t>07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65999" y="4284000"/>
            <a:ext cx="50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383E4C"/>
                </a:solidFill>
              </a:rPr>
              <a:t>추진 일정 (로드맵)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65999" y="4626000"/>
            <a:ext cx="4500000" cy="1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65999" y="4698000"/>
            <a:ext cx="49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E7A"/>
                </a:solidFill>
              </a:rPr>
              <a:t>분기별 산출물 및 마일스톤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72000" y="1674000"/>
            <a:ext cx="360000" cy="50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827999"/>
          </a:xfrm>
          <a:prstGeom prst="rect">
            <a:avLst/>
          </a:prstGeom>
          <a:solidFill>
            <a:srgbClr val="AD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5580" y="0"/>
            <a:ext cx="4267619" cy="827999"/>
          </a:xfrm>
          <a:prstGeom prst="rect">
            <a:avLst/>
          </a:prstGeom>
          <a:solidFill>
            <a:srgbClr val="FDC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59783" y="0"/>
            <a:ext cx="125999" cy="827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42681" y="0"/>
            <a:ext cx="72000" cy="827999"/>
          </a:xfrm>
          <a:prstGeom prst="rect">
            <a:avLst/>
          </a:prstGeom>
          <a:solidFill>
            <a:srgbClr val="AD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270000"/>
            <a:ext cx="21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[가이아쓰리디]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900000"/>
            <a:ext cx="11617199" cy="684000"/>
          </a:xfrm>
          <a:prstGeom prst="rect">
            <a:avLst/>
          </a:prstGeom>
          <a:solidFill>
            <a:srgbClr val="F9B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00" y="900000"/>
            <a:ext cx="162000" cy="684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8000" y="928800"/>
            <a:ext cx="1093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83E4C"/>
                </a:solidFill>
              </a:rPr>
              <a:t>연구 배경 및 필요성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000" y="1278000"/>
            <a:ext cx="1093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83E4C"/>
                </a:solidFill>
              </a:rPr>
              <a:t>01  현황과 한계, 추진 근거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" y="1692000"/>
            <a:ext cx="3780000" cy="208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000" y="1692000"/>
            <a:ext cx="3780000" cy="251999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000" y="1720800"/>
            <a:ext cx="3564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교통 혼잡 사회적 비용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2052000"/>
            <a:ext cx="64800" cy="648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7200" y="2023200"/>
            <a:ext cx="3491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연간 약 73조 원 (2023년 기준)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2311200"/>
            <a:ext cx="64800" cy="648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7200" y="2282400"/>
            <a:ext cx="3491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수도권 집중 현상 지속 심화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2570400"/>
            <a:ext cx="64800" cy="648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7200" y="2541600"/>
            <a:ext cx="3491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C-ITS·자율주행 확산으로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" y="2829600"/>
            <a:ext cx="64800" cy="648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7200" y="2800800"/>
            <a:ext cx="3491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정밀 교통 분석 수요 급증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48000" y="1692000"/>
            <a:ext cx="3780000" cy="208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48000" y="1692000"/>
            <a:ext cx="3780000" cy="25199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56000" y="1720800"/>
            <a:ext cx="3564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디지털트윈 정책 환경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56000" y="2052000"/>
            <a:ext cx="64800" cy="64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71200" y="2023200"/>
            <a:ext cx="3491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국토부 스마트시티 디지털트윈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56000" y="2311200"/>
            <a:ext cx="64800" cy="64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71200" y="2282400"/>
            <a:ext cx="3491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교통 분야 국가 R&amp;D 본격 추진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56000" y="2570400"/>
            <a:ext cx="64800" cy="64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71200" y="2541600"/>
            <a:ext cx="3491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공간정보 오픈 API 확대 정책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56000" y="2829600"/>
            <a:ext cx="64800" cy="64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71200" y="2800800"/>
            <a:ext cx="3491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실시간 교통 연계 인프라 구축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72000" y="1692000"/>
            <a:ext cx="3780000" cy="208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72000" y="1692000"/>
            <a:ext cx="3780000" cy="251999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80000" y="1720800"/>
            <a:ext cx="3564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기존 플랫폼 한계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80000" y="2052000"/>
            <a:ext cx="64800" cy="648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95200" y="2023200"/>
            <a:ext cx="3491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정적 CZML 재생 방식만 지원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80000" y="2311200"/>
            <a:ext cx="64800" cy="648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95200" y="2282400"/>
            <a:ext cx="3491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편집 후 위상 오류 자동감지 없음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80000" y="2570400"/>
            <a:ext cx="64800" cy="648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95200" y="2541600"/>
            <a:ext cx="3491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외부 데이터(OSM/SHP) 임포트 불가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80000" y="2829600"/>
            <a:ext cx="64800" cy="648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95200" y="2800800"/>
            <a:ext cx="3491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분석 결과 보고서 자동화 미지원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4000" y="3906000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3E4C"/>
                </a:solidFill>
              </a:rPr>
              <a:t>▶  본 연구의 추진 방향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4000" y="4158000"/>
            <a:ext cx="11545200" cy="1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4000" y="4320000"/>
            <a:ext cx="2196000" cy="90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78000" y="4374000"/>
            <a:ext cx="216000" cy="21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8000" y="4392000"/>
            <a:ext cx="223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3E4C"/>
                </a:solidFill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8000" y="43848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현황 분석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6000" y="4662000"/>
            <a:ext cx="205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플랫폼 기능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6000" y="4849200"/>
            <a:ext cx="205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한계 진단</a:t>
            </a:r>
          </a:p>
        </p:txBody>
      </p:sp>
      <p:sp>
        <p:nvSpPr>
          <p:cNvPr id="53" name="Can 52"/>
          <p:cNvSpPr/>
          <p:nvPr/>
        </p:nvSpPr>
        <p:spPr>
          <a:xfrm>
            <a:off x="2548800" y="4690800"/>
            <a:ext cx="129600" cy="158400"/>
          </a:xfrm>
          <a:prstGeom prst="can">
            <a:avLst/>
          </a:prstGeom>
          <a:solidFill>
            <a:srgbClr val="66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700000" y="4320000"/>
            <a:ext cx="2196000" cy="900000"/>
          </a:xfrm>
          <a:prstGeom prst="rect">
            <a:avLst/>
          </a:prstGeom>
          <a:solidFill>
            <a:srgbClr val="F9B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754000" y="4374000"/>
            <a:ext cx="216000" cy="21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54000" y="4392000"/>
            <a:ext cx="223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9BE36"/>
                </a:solidFill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24000" y="43848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과제 도출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72000" y="4662000"/>
            <a:ext cx="205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4대 세부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72000" y="4849200"/>
            <a:ext cx="205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과제 정의</a:t>
            </a:r>
          </a:p>
        </p:txBody>
      </p:sp>
      <p:sp>
        <p:nvSpPr>
          <p:cNvPr id="60" name="Can 59"/>
          <p:cNvSpPr/>
          <p:nvPr/>
        </p:nvSpPr>
        <p:spPr>
          <a:xfrm>
            <a:off x="4924800" y="4690800"/>
            <a:ext cx="129600" cy="158400"/>
          </a:xfrm>
          <a:prstGeom prst="can">
            <a:avLst/>
          </a:prstGeom>
          <a:solidFill>
            <a:srgbClr val="66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076000" y="4320000"/>
            <a:ext cx="2196000" cy="90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130000" y="4374000"/>
            <a:ext cx="216000" cy="21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30000" y="4392000"/>
            <a:ext cx="223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00000" y="43848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설계·구현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48000" y="4662000"/>
            <a:ext cx="205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기능별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48000" y="4849200"/>
            <a:ext cx="205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개발 수행</a:t>
            </a:r>
          </a:p>
        </p:txBody>
      </p:sp>
      <p:sp>
        <p:nvSpPr>
          <p:cNvPr id="67" name="Can 66"/>
          <p:cNvSpPr/>
          <p:nvPr/>
        </p:nvSpPr>
        <p:spPr>
          <a:xfrm>
            <a:off x="7300799" y="4690800"/>
            <a:ext cx="129600" cy="158400"/>
          </a:xfrm>
          <a:prstGeom prst="can">
            <a:avLst/>
          </a:prstGeom>
          <a:solidFill>
            <a:srgbClr val="66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451999" y="4320000"/>
            <a:ext cx="2196000" cy="9000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505999" y="4374000"/>
            <a:ext cx="216000" cy="21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505999" y="4392000"/>
            <a:ext cx="223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6FBB"/>
                </a:solidFill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75999" y="43848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검증·테스트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23999" y="4662000"/>
            <a:ext cx="205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위상·성능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23999" y="4849200"/>
            <a:ext cx="205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품질 확인</a:t>
            </a:r>
          </a:p>
        </p:txBody>
      </p:sp>
      <p:sp>
        <p:nvSpPr>
          <p:cNvPr id="74" name="Can 73"/>
          <p:cNvSpPr/>
          <p:nvPr/>
        </p:nvSpPr>
        <p:spPr>
          <a:xfrm>
            <a:off x="9676799" y="4690800"/>
            <a:ext cx="129600" cy="158400"/>
          </a:xfrm>
          <a:prstGeom prst="can">
            <a:avLst/>
          </a:prstGeom>
          <a:solidFill>
            <a:srgbClr val="66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827999" y="4320000"/>
            <a:ext cx="2196000" cy="900000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881999" y="4374000"/>
            <a:ext cx="216000" cy="21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881999" y="4392000"/>
            <a:ext cx="223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9E6B"/>
                </a:solidFill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151999" y="43848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성과 배포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899999" y="4662000"/>
            <a:ext cx="205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보고서·운영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899999" y="4849200"/>
            <a:ext cx="205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체계 완성</a:t>
            </a:r>
          </a:p>
        </p:txBody>
      </p:sp>
      <p:sp>
        <p:nvSpPr>
          <p:cNvPr id="81" name="Rectangle 80"/>
          <p:cNvSpPr/>
          <p:nvPr/>
        </p:nvSpPr>
        <p:spPr>
          <a:xfrm>
            <a:off x="0" y="6732000"/>
            <a:ext cx="12193200" cy="12599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827999"/>
          </a:xfrm>
          <a:prstGeom prst="rect">
            <a:avLst/>
          </a:prstGeom>
          <a:solidFill>
            <a:srgbClr val="AD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5580" y="0"/>
            <a:ext cx="4267619" cy="827999"/>
          </a:xfrm>
          <a:prstGeom prst="rect">
            <a:avLst/>
          </a:prstGeom>
          <a:solidFill>
            <a:srgbClr val="FDC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59783" y="0"/>
            <a:ext cx="125999" cy="827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42681" y="0"/>
            <a:ext cx="72000" cy="827999"/>
          </a:xfrm>
          <a:prstGeom prst="rect">
            <a:avLst/>
          </a:prstGeom>
          <a:solidFill>
            <a:srgbClr val="AD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270000"/>
            <a:ext cx="21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[가이아쓰리디]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900000"/>
            <a:ext cx="11617199" cy="684000"/>
          </a:xfrm>
          <a:prstGeom prst="rect">
            <a:avLst/>
          </a:prstGeom>
          <a:solidFill>
            <a:srgbClr val="F9B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00" y="900000"/>
            <a:ext cx="162000" cy="684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8000" y="928800"/>
            <a:ext cx="1093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83E4C"/>
                </a:solidFill>
              </a:rPr>
              <a:t>기존 플랫폼 핵심 기능 현황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000" y="1278000"/>
            <a:ext cx="1093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83E4C"/>
                </a:solidFill>
              </a:rPr>
              <a:t>02  현재 구현 완료된 핵심 모듈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" y="1655999"/>
            <a:ext cx="5760000" cy="226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38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000" y="1655999"/>
            <a:ext cx="5760000" cy="36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3999" y="1710000"/>
            <a:ext cx="259200" cy="25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000" y="1745999"/>
            <a:ext cx="259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3E4C"/>
                </a:solidFill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6000" y="1710000"/>
            <a:ext cx="52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도로 네트워크 편집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0000" y="2141999"/>
            <a:ext cx="79200" cy="792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00" y="2116800"/>
            <a:ext cx="536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0000"/>
                </a:solidFill>
              </a:rPr>
              <a:t>Node · Link · Lane · Connection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0000" y="2484000"/>
            <a:ext cx="79200" cy="792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00" y="2458800"/>
            <a:ext cx="536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0000"/>
                </a:solidFill>
              </a:rPr>
              <a:t>스키마 기반 동적 UI · 히스토리 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82000" y="1655999"/>
            <a:ext cx="5760000" cy="226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2000" y="1655999"/>
            <a:ext cx="5760000" cy="36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72000" y="1710000"/>
            <a:ext cx="259200" cy="25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90000" y="1745999"/>
            <a:ext cx="259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0000"/>
                </a:solidFill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3999" y="1710000"/>
            <a:ext cx="52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차량 시뮬레이션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8000" y="2141999"/>
            <a:ext cx="79200" cy="79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3999" y="2116800"/>
            <a:ext cx="536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0000"/>
                </a:solidFill>
              </a:rPr>
              <a:t>CZML + Web Worker 비동기 처리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8000" y="2484000"/>
            <a:ext cx="79200" cy="79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3999" y="2458800"/>
            <a:ext cx="536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0000"/>
                </a:solidFill>
              </a:rPr>
              <a:t>2D(OL) + 3D(Cesium) 동시 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4000" y="4104000"/>
            <a:ext cx="5760000" cy="226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1E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4000" y="4104000"/>
            <a:ext cx="5760000" cy="3600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13999" y="4158000"/>
            <a:ext cx="259200" cy="25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2000" y="4194000"/>
            <a:ext cx="259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6FBB"/>
                </a:solidFill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6000" y="4158000"/>
            <a:ext cx="52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교통 제어 편집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0000" y="4590000"/>
            <a:ext cx="79200" cy="792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00" y="4564800"/>
            <a:ext cx="536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0000"/>
                </a:solidFill>
              </a:rPr>
              <a:t>신호 타이밍 · 노면마킹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0000" y="4932000"/>
            <a:ext cx="79200" cy="792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00" y="4906800"/>
            <a:ext cx="536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0000"/>
                </a:solidFill>
              </a:rPr>
              <a:t>버스·철도 정류장 관리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82000" y="4104000"/>
            <a:ext cx="5760000" cy="226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82000" y="4104000"/>
            <a:ext cx="5760000" cy="360000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372000" y="4158000"/>
            <a:ext cx="259200" cy="25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90000" y="4194000"/>
            <a:ext cx="259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9E6B"/>
                </a:solidFill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13999" y="4158000"/>
            <a:ext cx="52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분석 레이어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8000" y="4590000"/>
            <a:ext cx="79200" cy="79200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3999" y="4564800"/>
            <a:ext cx="536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0000"/>
                </a:solidFill>
              </a:rPr>
              <a:t>히트맵 · OD 매트릭스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8000" y="4932000"/>
            <a:ext cx="79200" cy="79200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33999" y="4906800"/>
            <a:ext cx="536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0000"/>
                </a:solidFill>
              </a:rPr>
              <a:t>Trail 분석 · Recharts 통계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390000"/>
            <a:ext cx="12193200" cy="342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0000" y="6418800"/>
            <a:ext cx="114732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BE36"/>
                </a:solidFill>
              </a:rPr>
              <a:t>Tech Stack :  Spring Boot  ·  PostgreSQL  ·  React / TypeScript  ·  CesiumJS  ·  OpenLayers  ·  Web Workers  ·  Recharts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732000"/>
            <a:ext cx="12193200" cy="12599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827999"/>
          </a:xfrm>
          <a:prstGeom prst="rect">
            <a:avLst/>
          </a:prstGeom>
          <a:solidFill>
            <a:srgbClr val="AD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5580" y="0"/>
            <a:ext cx="4267619" cy="827999"/>
          </a:xfrm>
          <a:prstGeom prst="rect">
            <a:avLst/>
          </a:prstGeom>
          <a:solidFill>
            <a:srgbClr val="FDC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59783" y="0"/>
            <a:ext cx="125999" cy="827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42681" y="0"/>
            <a:ext cx="72000" cy="827999"/>
          </a:xfrm>
          <a:prstGeom prst="rect">
            <a:avLst/>
          </a:prstGeom>
          <a:solidFill>
            <a:srgbClr val="AD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270000"/>
            <a:ext cx="21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[가이아쓰리디]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000" y="917999"/>
            <a:ext cx="1260000" cy="288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000" y="954000"/>
            <a:ext cx="122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9BE36"/>
                </a:solidFill>
              </a:rPr>
              <a:t>세부과제 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900000"/>
            <a:ext cx="11617199" cy="684000"/>
          </a:xfrm>
          <a:prstGeom prst="rect">
            <a:avLst/>
          </a:prstGeom>
          <a:solidFill>
            <a:srgbClr val="F9B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00" y="900000"/>
            <a:ext cx="162000" cy="684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000" y="928800"/>
            <a:ext cx="1093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83E4C"/>
                </a:solidFill>
              </a:rPr>
              <a:t>네트워크 편집 고도화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000" y="1278000"/>
            <a:ext cx="1093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83E4C"/>
                </a:solidFill>
              </a:rPr>
              <a:t>03  위상 검증 · OSM 임포트 · 버전 Diff 시각화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000" y="1674000"/>
            <a:ext cx="3780000" cy="3060000"/>
          </a:xfrm>
          <a:prstGeom prst="rect">
            <a:avLst/>
          </a:prstGeom>
          <a:solidFill>
            <a:srgbClr val="F0F2F5"/>
          </a:solidFill>
          <a:ln w="10160">
            <a:solidFill>
              <a:srgbClr val="38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000" y="1674000"/>
            <a:ext cx="3780000" cy="27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000" y="1710000"/>
            <a:ext cx="35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① 위상 검증 (Topology Validation)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3999" y="2052000"/>
            <a:ext cx="180000" cy="18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1200" y="20592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800" y="2052000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단절 링크·고립 노드·차선 방향 충돌 자동 감지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3999" y="2563200"/>
            <a:ext cx="180000" cy="18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1200" y="25704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800" y="2563200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중복 좌표·역방향 링크 실시간 검출 엔진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3999" y="3074399"/>
            <a:ext cx="180000" cy="18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1200" y="30816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800" y="3074399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오류 요소 지도 하이라이트 + 원클릭 이동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3999" y="3585600"/>
            <a:ext cx="180000" cy="18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1200" y="35928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800" y="3585600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저장 전 검증 게이트 → 데이터 품질 보증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3999" y="4096799"/>
            <a:ext cx="180000" cy="18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1200" y="41040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800" y="4096799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오류 유형별 통계 패널 제공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48000" y="1674000"/>
            <a:ext cx="3780000" cy="3060000"/>
          </a:xfrm>
          <a:prstGeom prst="rect">
            <a:avLst/>
          </a:prstGeom>
          <a:solidFill>
            <a:srgbClr val="F0F2F5"/>
          </a:solidFill>
          <a:ln w="1016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48000" y="1674000"/>
            <a:ext cx="3780000" cy="27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56000" y="1710000"/>
            <a:ext cx="35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② OSM / SHP 외부 데이터 임포트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38000" y="2052000"/>
            <a:ext cx="180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5200" y="20592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64800" y="2052000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OpenStreetMap Overpass API 실시간 연동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38000" y="2563200"/>
            <a:ext cx="180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45200" y="25704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64800" y="2563200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SHP(Shapefile) 파일 업로드 및 변환 지원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38000" y="3074399"/>
            <a:ext cx="180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45200" y="30816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64800" y="3074399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좌표계 자동 변환 (WGS84 ↔ EPSG:5186)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38000" y="3585600"/>
            <a:ext cx="180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45200" y="35928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64800" y="3585600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임포트 후 자동 위상 정제 파이프라인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38000" y="4096799"/>
            <a:ext cx="180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45200" y="41040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4800" y="4096799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현장 조사 없이 초기 네트워크 신속 구축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72000" y="1674000"/>
            <a:ext cx="3780000" cy="3060000"/>
          </a:xfrm>
          <a:prstGeom prst="rect">
            <a:avLst/>
          </a:prstGeom>
          <a:solidFill>
            <a:srgbClr val="F0F2F5"/>
          </a:solidFill>
          <a:ln w="10160">
            <a:solidFill>
              <a:srgbClr val="1E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72000" y="1674000"/>
            <a:ext cx="3780000" cy="2700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80000" y="1710000"/>
            <a:ext cx="35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③ 버전 간 네트워크 Diff 시각화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62000" y="2052000"/>
            <a:ext cx="180000" cy="1800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69200" y="20592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88800" y="2052000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v1 → v2 변경 사항 색상 구분 (추가/삭제/수정)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62000" y="2563200"/>
            <a:ext cx="180000" cy="1800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69200" y="25704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88800" y="2563200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링크·노드·차선별 변경 이력 패널 표시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62000" y="3074399"/>
            <a:ext cx="180000" cy="1800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69200" y="30816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88800" y="3074399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세션 이력 → 서버 영구 저장 이력으로 확장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62000" y="3585600"/>
            <a:ext cx="180000" cy="1800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69200" y="35928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88800" y="3585600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특정 버전 원클릭 복원 기능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62000" y="4096799"/>
            <a:ext cx="180000" cy="1800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69200" y="41040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88800" y="4096799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변경 요약 자동 리포트 생성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4860000"/>
            <a:ext cx="12193200" cy="54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0000" y="4896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BE36"/>
                </a:solidFill>
              </a:rPr>
              <a:t>기대 효과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980000" y="4903200"/>
            <a:ext cx="3168000" cy="432000"/>
          </a:xfrm>
          <a:prstGeom prst="rect">
            <a:avLst/>
          </a:prstGeom>
          <a:solidFill>
            <a:srgbClr val="F9B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52000" y="4950000"/>
            <a:ext cx="30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3E4C"/>
                </a:solidFill>
              </a:rPr>
              <a:t>데이터 품질 40% 향상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28000" y="4903200"/>
            <a:ext cx="3168000" cy="432000"/>
          </a:xfrm>
          <a:prstGeom prst="rect">
            <a:avLst/>
          </a:prstGeom>
          <a:solidFill>
            <a:srgbClr val="F9B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00000" y="4950000"/>
            <a:ext cx="30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3E4C"/>
                </a:solidFill>
              </a:rPr>
              <a:t>초기 구축 시간 60% 단축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676000" y="4903200"/>
            <a:ext cx="3168000" cy="432000"/>
          </a:xfrm>
          <a:prstGeom prst="rect">
            <a:avLst/>
          </a:prstGeom>
          <a:solidFill>
            <a:srgbClr val="F9B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48000" y="4950000"/>
            <a:ext cx="30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3E4C"/>
                </a:solidFill>
              </a:rPr>
              <a:t>변경 이력 완전 추적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732000"/>
            <a:ext cx="12193200" cy="12599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827999"/>
          </a:xfrm>
          <a:prstGeom prst="rect">
            <a:avLst/>
          </a:prstGeom>
          <a:solidFill>
            <a:srgbClr val="AD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5580" y="0"/>
            <a:ext cx="4267619" cy="827999"/>
          </a:xfrm>
          <a:prstGeom prst="rect">
            <a:avLst/>
          </a:prstGeom>
          <a:solidFill>
            <a:srgbClr val="FDC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59783" y="0"/>
            <a:ext cx="125999" cy="827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42681" y="0"/>
            <a:ext cx="72000" cy="827999"/>
          </a:xfrm>
          <a:prstGeom prst="rect">
            <a:avLst/>
          </a:prstGeom>
          <a:solidFill>
            <a:srgbClr val="AD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270000"/>
            <a:ext cx="21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[가이아쓰리디]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000" y="917999"/>
            <a:ext cx="1260000" cy="28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000" y="954000"/>
            <a:ext cx="122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세부과제 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900000"/>
            <a:ext cx="11617199" cy="684000"/>
          </a:xfrm>
          <a:prstGeom prst="rect">
            <a:avLst/>
          </a:prstGeom>
          <a:solidFill>
            <a:srgbClr val="F9B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00" y="900000"/>
            <a:ext cx="162000" cy="684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000" y="928800"/>
            <a:ext cx="1093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83E4C"/>
                </a:solidFill>
              </a:rPr>
              <a:t>시뮬레이션 고도화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000" y="1278000"/>
            <a:ext cx="1093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83E4C"/>
                </a:solidFill>
              </a:rPr>
              <a:t>04  실시간 연동 · 이벤트 편집기 · A/B 비교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000" y="1674000"/>
            <a:ext cx="3780000" cy="3060000"/>
          </a:xfrm>
          <a:prstGeom prst="rect">
            <a:avLst/>
          </a:prstGeom>
          <a:solidFill>
            <a:srgbClr val="F0F2F5"/>
          </a:solidFill>
          <a:ln w="10160">
            <a:solidFill>
              <a:srgbClr val="38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000" y="1674000"/>
            <a:ext cx="3780000" cy="27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000" y="1710000"/>
            <a:ext cx="35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① 실시간 시뮬레이션 연동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3999" y="2052000"/>
            <a:ext cx="180000" cy="18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1200" y="20592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800" y="2052000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WebSocket / SSE 기반 스트리밍 수신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3999" y="2563200"/>
            <a:ext cx="180000" cy="18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1200" y="25704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800" y="2563200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SUMO·VISSIM 시뮬레이터 서버 연동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3999" y="3074399"/>
            <a:ext cx="180000" cy="18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1200" y="30816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800" y="3074399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진행 중 시뮬레이션 라이브 모니터링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3999" y="3585600"/>
            <a:ext cx="180000" cy="18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1200" y="35928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800" y="3585600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재생·정지·배속 실시간 제어 UI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3999" y="4096799"/>
            <a:ext cx="180000" cy="18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1200" y="41040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800" y="4096799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연결 끊김 자동 재연결 및 버퍼 관리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48000" y="1674000"/>
            <a:ext cx="3780000" cy="3060000"/>
          </a:xfrm>
          <a:prstGeom prst="rect">
            <a:avLst/>
          </a:prstGeom>
          <a:solidFill>
            <a:srgbClr val="F0F2F5"/>
          </a:solidFill>
          <a:ln w="1016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48000" y="1674000"/>
            <a:ext cx="3780000" cy="27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56000" y="1710000"/>
            <a:ext cx="35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② 시나리오 이벤트 편집기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38000" y="2052000"/>
            <a:ext cx="180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5200" y="20592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64800" y="2052000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교통사고·공사·신호고장 타임라인 삽입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38000" y="2563200"/>
            <a:ext cx="180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45200" y="25704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64800" y="2563200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드래그 앤 드롭 이벤트 배치 UI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38000" y="3074399"/>
            <a:ext cx="180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45200" y="30816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64800" y="3074399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이벤트 발생 전/후 교통 흐름 비교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38000" y="3585600"/>
            <a:ext cx="180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45200" y="35928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64800" y="3585600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이벤트 연쇄 효과 (도미노 모델) 지원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38000" y="4096799"/>
            <a:ext cx="180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45200" y="41040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4800" y="4096799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시나리오 템플릿 저장·공유 기능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72000" y="1674000"/>
            <a:ext cx="3780000" cy="3060000"/>
          </a:xfrm>
          <a:prstGeom prst="rect">
            <a:avLst/>
          </a:prstGeom>
          <a:solidFill>
            <a:srgbClr val="F0F2F5"/>
          </a:solidFill>
          <a:ln w="10160">
            <a:solidFill>
              <a:srgbClr val="1E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72000" y="1674000"/>
            <a:ext cx="3780000" cy="2700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80000" y="1710000"/>
            <a:ext cx="35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③ A/B 시나리오 비교 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62000" y="2052000"/>
            <a:ext cx="180000" cy="1800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69200" y="20592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88800" y="2052000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화면 분할(Split-view) 동기 재생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62000" y="2563200"/>
            <a:ext cx="180000" cy="1800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69200" y="25704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88800" y="2563200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KPI 나란히 표시 (지체·속도·대기행렬)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62000" y="3074399"/>
            <a:ext cx="180000" cy="1800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69200" y="30816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88800" y="3074399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시나리오 간 차이 히트맵 오버레이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62000" y="3585600"/>
            <a:ext cx="180000" cy="1800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69200" y="35928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88800" y="3585600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최적 시나리오 자동 추천 알고리즘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62000" y="4096799"/>
            <a:ext cx="180000" cy="1800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69200" y="41040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88800" y="4096799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비교 결과 PDF/CSV 내보내기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4860000"/>
            <a:ext cx="12193200" cy="54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0000" y="4896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BE36"/>
                </a:solidFill>
              </a:rPr>
              <a:t>기대 효과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980000" y="4903200"/>
            <a:ext cx="3168000" cy="432000"/>
          </a:xfrm>
          <a:prstGeom prst="rect">
            <a:avLst/>
          </a:prstGeom>
          <a:solidFill>
            <a:srgbClr val="F9B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52000" y="4950000"/>
            <a:ext cx="30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3E4C"/>
                </a:solidFill>
              </a:rPr>
              <a:t>라이브 모니터링 실현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28000" y="4903200"/>
            <a:ext cx="3168000" cy="432000"/>
          </a:xfrm>
          <a:prstGeom prst="rect">
            <a:avLst/>
          </a:prstGeom>
          <a:solidFill>
            <a:srgbClr val="F9B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00000" y="4950000"/>
            <a:ext cx="30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3E4C"/>
                </a:solidFill>
              </a:rPr>
              <a:t>정책 시나리오 검증 효율화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676000" y="4903200"/>
            <a:ext cx="3168000" cy="432000"/>
          </a:xfrm>
          <a:prstGeom prst="rect">
            <a:avLst/>
          </a:prstGeom>
          <a:solidFill>
            <a:srgbClr val="F9B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48000" y="4950000"/>
            <a:ext cx="30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3E4C"/>
                </a:solidFill>
              </a:rPr>
              <a:t>의사결정 지원 고도화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732000"/>
            <a:ext cx="12193200" cy="12599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827999"/>
          </a:xfrm>
          <a:prstGeom prst="rect">
            <a:avLst/>
          </a:prstGeom>
          <a:solidFill>
            <a:srgbClr val="AD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5580" y="0"/>
            <a:ext cx="4267619" cy="827999"/>
          </a:xfrm>
          <a:prstGeom prst="rect">
            <a:avLst/>
          </a:prstGeom>
          <a:solidFill>
            <a:srgbClr val="FDC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59783" y="0"/>
            <a:ext cx="125999" cy="827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42681" y="0"/>
            <a:ext cx="72000" cy="827999"/>
          </a:xfrm>
          <a:prstGeom prst="rect">
            <a:avLst/>
          </a:prstGeom>
          <a:solidFill>
            <a:srgbClr val="AD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270000"/>
            <a:ext cx="21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[가이아쓰리디]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000" y="917999"/>
            <a:ext cx="1260000" cy="2880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000" y="954000"/>
            <a:ext cx="122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세부과제 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900000"/>
            <a:ext cx="11617199" cy="684000"/>
          </a:xfrm>
          <a:prstGeom prst="rect">
            <a:avLst/>
          </a:prstGeom>
          <a:solidFill>
            <a:srgbClr val="F9B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00" y="900000"/>
            <a:ext cx="162000" cy="684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000" y="928800"/>
            <a:ext cx="1093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83E4C"/>
                </a:solidFill>
              </a:rPr>
              <a:t>분석 기능 확장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000" y="1278000"/>
            <a:ext cx="1093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83E4C"/>
                </a:solidFill>
              </a:rPr>
              <a:t>05  교차로 성능 · 속도 프로파일 · 탄소 배출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000" y="1674000"/>
            <a:ext cx="3780000" cy="3060000"/>
          </a:xfrm>
          <a:prstGeom prst="rect">
            <a:avLst/>
          </a:prstGeom>
          <a:solidFill>
            <a:srgbClr val="F0F2F5"/>
          </a:solidFill>
          <a:ln w="10160">
            <a:solidFill>
              <a:srgbClr val="38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000" y="1674000"/>
            <a:ext cx="3780000" cy="27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000" y="1710000"/>
            <a:ext cx="35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① 교차로 성능 분석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3999" y="2052000"/>
            <a:ext cx="180000" cy="18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1200" y="20592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800" y="2052000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포화도(v/c ratio) 자동 산출 엔진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3999" y="2563200"/>
            <a:ext cx="180000" cy="18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1200" y="25704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800" y="2563200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평균 지체 및 최대 대기행렬 계산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3999" y="3074399"/>
            <a:ext cx="180000" cy="18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1200" y="30816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800" y="3074399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신호 현시 최적화 제안 알고리즘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3999" y="3585600"/>
            <a:ext cx="180000" cy="18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1200" y="35928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800" y="3585600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HCM 기준 서비스 수준(LOS) 등급화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3999" y="4096799"/>
            <a:ext cx="180000" cy="18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1200" y="41040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800" y="4096799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교차로 유형별 비교 벤치마크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48000" y="1674000"/>
            <a:ext cx="3780000" cy="3060000"/>
          </a:xfrm>
          <a:prstGeom prst="rect">
            <a:avLst/>
          </a:prstGeom>
          <a:solidFill>
            <a:srgbClr val="F0F2F5"/>
          </a:solidFill>
          <a:ln w="1016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48000" y="1674000"/>
            <a:ext cx="3780000" cy="27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56000" y="1710000"/>
            <a:ext cx="35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② 구간 통행시간 / 속도 프로파일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38000" y="2052000"/>
            <a:ext cx="180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5200" y="20592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64800" y="2052000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경로 선택 → 시간대별 속도 그래프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38000" y="2563200"/>
            <a:ext cx="180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45200" y="25704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64800" y="2563200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Recharts 인터랙티브 시각화 (기존 활용)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38000" y="3074399"/>
            <a:ext cx="180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45200" y="30816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64800" y="3074399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Peak / Off-peak 자동 구분 분석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38000" y="3585600"/>
            <a:ext cx="180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45200" y="35928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64800" y="3585600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링크 속도 이상치 감지 알림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38000" y="4096799"/>
            <a:ext cx="180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45200" y="41040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4800" y="4096799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FCD 실측 데이터와 시뮬레이션 비교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72000" y="1674000"/>
            <a:ext cx="3780000" cy="3060000"/>
          </a:xfrm>
          <a:prstGeom prst="rect">
            <a:avLst/>
          </a:prstGeom>
          <a:solidFill>
            <a:srgbClr val="F0F2F5"/>
          </a:solidFill>
          <a:ln w="10160">
            <a:solidFill>
              <a:srgbClr val="1E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72000" y="1674000"/>
            <a:ext cx="3780000" cy="2700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80000" y="1710000"/>
            <a:ext cx="35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③ 탄소 배출 추정 모듈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62000" y="2052000"/>
            <a:ext cx="180000" cy="1800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69200" y="20592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88800" y="2052000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차량 속도 프로파일 → 배출계수 적용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62000" y="2563200"/>
            <a:ext cx="180000" cy="1800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69200" y="25704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88800" y="2563200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MOVES / COPERT 배출 모델 내장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62000" y="3074399"/>
            <a:ext cx="180000" cy="1800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69200" y="30816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88800" y="3074399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차종별 CO₂·NOx·PM2.5 산출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62000" y="3585600"/>
            <a:ext cx="180000" cy="1800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69200" y="35928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88800" y="3585600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정책 시나리오별 저감 효과 정량 비교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62000" y="4096799"/>
            <a:ext cx="180000" cy="1800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69200" y="41040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88800" y="4096799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교통영향평가 보고서 연동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4860000"/>
            <a:ext cx="12193200" cy="54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0000" y="4896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BE36"/>
                </a:solidFill>
              </a:rPr>
              <a:t>기대 효과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980000" y="4903200"/>
            <a:ext cx="3168000" cy="432000"/>
          </a:xfrm>
          <a:prstGeom prst="rect">
            <a:avLst/>
          </a:prstGeom>
          <a:solidFill>
            <a:srgbClr val="F9B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52000" y="4950000"/>
            <a:ext cx="30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3E4C"/>
                </a:solidFill>
              </a:rPr>
              <a:t>교차로 운영 효율 15% 향상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28000" y="4903200"/>
            <a:ext cx="3168000" cy="432000"/>
          </a:xfrm>
          <a:prstGeom prst="rect">
            <a:avLst/>
          </a:prstGeom>
          <a:solidFill>
            <a:srgbClr val="F9B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00000" y="4950000"/>
            <a:ext cx="30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3E4C"/>
                </a:solidFill>
              </a:rPr>
              <a:t>탄소 저감 정량화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676000" y="4903200"/>
            <a:ext cx="3168000" cy="432000"/>
          </a:xfrm>
          <a:prstGeom prst="rect">
            <a:avLst/>
          </a:prstGeom>
          <a:solidFill>
            <a:srgbClr val="F9B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48000" y="4950000"/>
            <a:ext cx="30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3E4C"/>
                </a:solidFill>
              </a:rPr>
              <a:t>HCM 기준 LOS 자동 검증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732000"/>
            <a:ext cx="12193200" cy="12599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827999"/>
          </a:xfrm>
          <a:prstGeom prst="rect">
            <a:avLst/>
          </a:prstGeom>
          <a:solidFill>
            <a:srgbClr val="AD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5580" y="0"/>
            <a:ext cx="4267619" cy="827999"/>
          </a:xfrm>
          <a:prstGeom prst="rect">
            <a:avLst/>
          </a:prstGeom>
          <a:solidFill>
            <a:srgbClr val="FDC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59783" y="0"/>
            <a:ext cx="125999" cy="827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42681" y="0"/>
            <a:ext cx="72000" cy="827999"/>
          </a:xfrm>
          <a:prstGeom prst="rect">
            <a:avLst/>
          </a:prstGeom>
          <a:solidFill>
            <a:srgbClr val="AD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270000"/>
            <a:ext cx="21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[가이아쓰리디]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000" y="917999"/>
            <a:ext cx="1260000" cy="288000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000" y="954000"/>
            <a:ext cx="122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세부과제 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900000"/>
            <a:ext cx="11617199" cy="684000"/>
          </a:xfrm>
          <a:prstGeom prst="rect">
            <a:avLst/>
          </a:prstGeom>
          <a:solidFill>
            <a:srgbClr val="F9B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00" y="900000"/>
            <a:ext cx="162000" cy="684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000" y="928800"/>
            <a:ext cx="1093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83E4C"/>
                </a:solidFill>
              </a:rPr>
              <a:t>UX 및 운영 편의 향상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000" y="1278000"/>
            <a:ext cx="1093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83E4C"/>
                </a:solidFill>
              </a:rPr>
              <a:t>06  영상 내보내기 · 자동 리포트 · 협업 기능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000" y="1674000"/>
            <a:ext cx="3780000" cy="3060000"/>
          </a:xfrm>
          <a:prstGeom prst="rect">
            <a:avLst/>
          </a:prstGeom>
          <a:solidFill>
            <a:srgbClr val="F0F2F5"/>
          </a:solidFill>
          <a:ln w="10160">
            <a:solidFill>
              <a:srgbClr val="38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000" y="1674000"/>
            <a:ext cx="3780000" cy="27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000" y="1710000"/>
            <a:ext cx="35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① 시뮬레이션 영상 내보내기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3999" y="2052000"/>
            <a:ext cx="180000" cy="18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1200" y="20592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800" y="2052000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Cesium scene.postRender 프레임 캡처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3999" y="2563200"/>
            <a:ext cx="180000" cy="18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1200" y="25704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800" y="2563200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ffmpeg.wasm 브라우저 내 MP4 인코딩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3999" y="3074399"/>
            <a:ext cx="180000" cy="18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1200" y="30816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800" y="3074399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구간 선택 (시작~종료 타임코드) 내보내기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3999" y="3585600"/>
            <a:ext cx="180000" cy="18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1200" y="35928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800" y="3585600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해상도·프레임레이트 사용자 설정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3999" y="4096799"/>
            <a:ext cx="180000" cy="18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1200" y="41040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800" y="4096799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발표·보고서·소셜미디어 공유 지원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48000" y="1674000"/>
            <a:ext cx="3780000" cy="3060000"/>
          </a:xfrm>
          <a:prstGeom prst="rect">
            <a:avLst/>
          </a:prstGeom>
          <a:solidFill>
            <a:srgbClr val="F0F2F5"/>
          </a:solidFill>
          <a:ln w="1016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48000" y="1674000"/>
            <a:ext cx="3780000" cy="27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56000" y="1710000"/>
            <a:ext cx="35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② 대시보드 &amp; 자동 리포트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38000" y="2052000"/>
            <a:ext cx="180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5200" y="20592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64800" y="2052000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시뮬레이션 종료 후 KPI 요약 화면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38000" y="2563200"/>
            <a:ext cx="180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45200" y="25704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64800" y="2563200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PDF 자동 생성 (교통영향평가 형식)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38000" y="3074399"/>
            <a:ext cx="180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45200" y="30816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64800" y="3074399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차트·지도·수치 통합 레이아웃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38000" y="3585600"/>
            <a:ext cx="180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45200" y="35928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64800" y="3585600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정기 배치 리포트 스케줄링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38000" y="4096799"/>
            <a:ext cx="180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45200" y="41040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4800" y="4096799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이메일·슬랙 자동 발송 연동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72000" y="1674000"/>
            <a:ext cx="3780000" cy="3060000"/>
          </a:xfrm>
          <a:prstGeom prst="rect">
            <a:avLst/>
          </a:prstGeom>
          <a:solidFill>
            <a:srgbClr val="F0F2F5"/>
          </a:solidFill>
          <a:ln w="10160">
            <a:solidFill>
              <a:srgbClr val="1E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72000" y="1674000"/>
            <a:ext cx="3780000" cy="2700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80000" y="1710000"/>
            <a:ext cx="35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③ 협업 및 접근성 강화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62000" y="2052000"/>
            <a:ext cx="180000" cy="1800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69200" y="20592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88800" y="2052000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다중 사용자 동시 편집 (CRDT 기반)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62000" y="2563200"/>
            <a:ext cx="180000" cy="1800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69200" y="25704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88800" y="2563200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역할별 권한 관리 (뷰어/편집/관리자)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62000" y="3074399"/>
            <a:ext cx="180000" cy="1800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69200" y="30816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88800" y="3074399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변경 사항 실시간 댓글·리뷰 기능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62000" y="3585600"/>
            <a:ext cx="180000" cy="1800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69200" y="35928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88800" y="3585600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반응형 UI (태블릿 현장 조사 지원)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62000" y="4096799"/>
            <a:ext cx="180000" cy="1800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69200" y="4104000"/>
            <a:ext cx="1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88800" y="4096799"/>
            <a:ext cx="3348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WCAG 2.1 접근성 기준 준수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4860000"/>
            <a:ext cx="12193200" cy="54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0000" y="4896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BE36"/>
                </a:solidFill>
              </a:rPr>
              <a:t>기대 효과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980000" y="4903200"/>
            <a:ext cx="3168000" cy="432000"/>
          </a:xfrm>
          <a:prstGeom prst="rect">
            <a:avLst/>
          </a:prstGeom>
          <a:solidFill>
            <a:srgbClr val="F9B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52000" y="4950000"/>
            <a:ext cx="30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3E4C"/>
                </a:solidFill>
              </a:rPr>
              <a:t>보고서 작성 시간 70% 단축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28000" y="4903200"/>
            <a:ext cx="3168000" cy="432000"/>
          </a:xfrm>
          <a:prstGeom prst="rect">
            <a:avLst/>
          </a:prstGeom>
          <a:solidFill>
            <a:srgbClr val="F9B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00000" y="4950000"/>
            <a:ext cx="30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3E4C"/>
                </a:solidFill>
              </a:rPr>
              <a:t>현장 활용성 극대화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676000" y="4903200"/>
            <a:ext cx="3168000" cy="432000"/>
          </a:xfrm>
          <a:prstGeom prst="rect">
            <a:avLst/>
          </a:prstGeom>
          <a:solidFill>
            <a:srgbClr val="F9B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48000" y="4950000"/>
            <a:ext cx="30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3E4C"/>
                </a:solidFill>
              </a:rPr>
              <a:t>기관 간 협업 체계 구축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732000"/>
            <a:ext cx="12193200" cy="12599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827999"/>
          </a:xfrm>
          <a:prstGeom prst="rect">
            <a:avLst/>
          </a:prstGeom>
          <a:solidFill>
            <a:srgbClr val="AD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5580" y="0"/>
            <a:ext cx="4267619" cy="827999"/>
          </a:xfrm>
          <a:prstGeom prst="rect">
            <a:avLst/>
          </a:prstGeom>
          <a:solidFill>
            <a:srgbClr val="FDC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59783" y="0"/>
            <a:ext cx="125999" cy="827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42681" y="0"/>
            <a:ext cx="72000" cy="827999"/>
          </a:xfrm>
          <a:prstGeom prst="rect">
            <a:avLst/>
          </a:prstGeom>
          <a:solidFill>
            <a:srgbClr val="AD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270000"/>
            <a:ext cx="21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[가이아쓰리디]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900000"/>
            <a:ext cx="11617199" cy="684000"/>
          </a:xfrm>
          <a:prstGeom prst="rect">
            <a:avLst/>
          </a:prstGeom>
          <a:solidFill>
            <a:srgbClr val="F9B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00" y="900000"/>
            <a:ext cx="162000" cy="684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8000" y="928800"/>
            <a:ext cx="1093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83E4C"/>
                </a:solidFill>
              </a:rPr>
              <a:t>연구 추진 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000" y="1278000"/>
            <a:ext cx="1093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83E4C"/>
                </a:solidFill>
              </a:rPr>
              <a:t>07  분기별 로드맵 및 주요 마일스톤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" y="1674000"/>
            <a:ext cx="2700000" cy="396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6000" y="1692000"/>
            <a:ext cx="255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2000" y="1699200"/>
            <a:ext cx="16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1~3월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000" y="1890000"/>
            <a:ext cx="255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기반 설계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14000" y="1674000"/>
            <a:ext cx="2700000" cy="396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86000" y="1692000"/>
            <a:ext cx="255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1999" y="1699200"/>
            <a:ext cx="16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4~6월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86000" y="1890000"/>
            <a:ext cx="255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핵심 개발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03999" y="1674000"/>
            <a:ext cx="2700000" cy="3960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5999" y="1692000"/>
            <a:ext cx="255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2000" y="1699200"/>
            <a:ext cx="16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7~9월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75999" y="1890000"/>
            <a:ext cx="255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기능 완성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94000" y="1674000"/>
            <a:ext cx="2700000" cy="396000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66000" y="1692000"/>
            <a:ext cx="255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02000" y="1699200"/>
            <a:ext cx="16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10~12월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6000" y="1890000"/>
            <a:ext cx="255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검증·배포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2232000"/>
            <a:ext cx="324000" cy="90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000" y="2340000"/>
            <a:ext cx="28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네</a:t>
            </a:r>
          </a:p>
          <a:p>
            <a:pPr algn="ctr"/>
            <a:r>
              <a:rPr sz="850" b="1">
                <a:solidFill>
                  <a:srgbClr val="FFFFFF"/>
                </a:solidFill>
              </a:rPr>
              <a:t>트</a:t>
            </a:r>
          </a:p>
          <a:p>
            <a:pPr algn="ctr"/>
            <a:r>
              <a:rPr sz="850" b="1">
                <a:solidFill>
                  <a:srgbClr val="FFFFFF"/>
                </a:solidFill>
              </a:rPr>
              <a:t>워</a:t>
            </a:r>
          </a:p>
          <a:p>
            <a:pPr algn="ctr"/>
            <a:r>
              <a:rPr sz="850" b="1">
                <a:solidFill>
                  <a:srgbClr val="FFFFFF"/>
                </a:solidFill>
              </a:rPr>
              <a:t>크</a:t>
            </a:r>
          </a:p>
          <a:p>
            <a:pPr algn="ctr"/>
            <a:r>
              <a:rPr sz="850" b="1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850" b="1">
                <a:solidFill>
                  <a:srgbClr val="FFFFFF"/>
                </a:solidFill>
              </a:rPr>
              <a:t>편</a:t>
            </a:r>
          </a:p>
          <a:p>
            <a:pPr algn="ctr"/>
            <a:r>
              <a:rPr sz="850" b="1">
                <a:solidFill>
                  <a:srgbClr val="FFFFFF"/>
                </a:solidFill>
              </a:rPr>
              <a:t>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2800" y="2275200"/>
            <a:ext cx="2642400" cy="810000"/>
          </a:xfrm>
          <a:prstGeom prst="rect">
            <a:avLst/>
          </a:prstGeom>
          <a:solidFill>
            <a:srgbClr val="F0F2F5"/>
          </a:solidFill>
          <a:ln w="6350">
            <a:solidFill>
              <a:srgbClr val="38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2800" y="2275200"/>
            <a:ext cx="72000" cy="81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6000" y="2358000"/>
            <a:ext cx="24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</a:rPr>
              <a:t>위상검증 설계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6000" y="2664000"/>
            <a:ext cx="24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고립노드 감지 구현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42800" y="2275200"/>
            <a:ext cx="2642400" cy="810000"/>
          </a:xfrm>
          <a:prstGeom prst="rect">
            <a:avLst/>
          </a:prstGeom>
          <a:solidFill>
            <a:srgbClr val="F0F2F5"/>
          </a:solidFill>
          <a:ln w="6350">
            <a:solidFill>
              <a:srgbClr val="38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42800" y="2275200"/>
            <a:ext cx="72000" cy="81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76000" y="2358000"/>
            <a:ext cx="24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</a:rPr>
              <a:t>OSM 임포트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76000" y="2664000"/>
            <a:ext cx="24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좌표계 변환 개발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32799" y="2275200"/>
            <a:ext cx="2642400" cy="810000"/>
          </a:xfrm>
          <a:prstGeom prst="rect">
            <a:avLst/>
          </a:prstGeom>
          <a:solidFill>
            <a:srgbClr val="F0F2F5"/>
          </a:solidFill>
          <a:ln w="6350">
            <a:solidFill>
              <a:srgbClr val="38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32799" y="2275200"/>
            <a:ext cx="72000" cy="81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65999" y="2358000"/>
            <a:ext cx="24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</a:rPr>
              <a:t>Diff 시각화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65999" y="2664000"/>
            <a:ext cx="24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버전 복원 기능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22799" y="2275200"/>
            <a:ext cx="2642400" cy="810000"/>
          </a:xfrm>
          <a:prstGeom prst="rect">
            <a:avLst/>
          </a:prstGeom>
          <a:solidFill>
            <a:srgbClr val="F0F2F5"/>
          </a:solidFill>
          <a:ln w="6350">
            <a:solidFill>
              <a:srgbClr val="38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22799" y="2275200"/>
            <a:ext cx="72000" cy="810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56000" y="2358000"/>
            <a:ext cx="24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</a:rPr>
              <a:t>통합 테스트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56000" y="2664000"/>
            <a:ext cx="24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품질 검증 완료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3221999"/>
            <a:ext cx="324000" cy="90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8000" y="3330000"/>
            <a:ext cx="28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시</a:t>
            </a:r>
          </a:p>
          <a:p>
            <a:pPr algn="ctr"/>
            <a:r>
              <a:rPr sz="850" b="1">
                <a:solidFill>
                  <a:srgbClr val="FFFFFF"/>
                </a:solidFill>
              </a:rPr>
              <a:t>뮬</a:t>
            </a:r>
          </a:p>
          <a:p>
            <a:pPr algn="ctr"/>
            <a:r>
              <a:rPr sz="850" b="1">
                <a:solidFill>
                  <a:srgbClr val="FFFFFF"/>
                </a:solidFill>
              </a:rPr>
              <a:t>레</a:t>
            </a:r>
          </a:p>
          <a:p>
            <a:pPr algn="ctr"/>
            <a:r>
              <a:rPr sz="850" b="1">
                <a:solidFill>
                  <a:srgbClr val="FFFFFF"/>
                </a:solidFill>
              </a:rPr>
              <a:t>이</a:t>
            </a:r>
          </a:p>
          <a:p>
            <a:pPr algn="ctr"/>
            <a:r>
              <a:rPr sz="850" b="1">
                <a:solidFill>
                  <a:srgbClr val="FFFFFF"/>
                </a:solidFill>
              </a:rPr>
              <a:t>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2800" y="3265199"/>
            <a:ext cx="2642400" cy="810000"/>
          </a:xfrm>
          <a:prstGeom prst="rect">
            <a:avLst/>
          </a:prstGeom>
          <a:solidFill>
            <a:srgbClr val="F0F2F5"/>
          </a:solidFill>
          <a:ln w="63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52800" y="3265199"/>
            <a:ext cx="72000" cy="81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6000" y="3347999"/>
            <a:ext cx="24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</a:rPr>
              <a:t>WebSocket 설계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6000" y="3653999"/>
            <a:ext cx="24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아키텍처 정의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42800" y="3265199"/>
            <a:ext cx="2642400" cy="810000"/>
          </a:xfrm>
          <a:prstGeom prst="rect">
            <a:avLst/>
          </a:prstGeom>
          <a:solidFill>
            <a:srgbClr val="F0F2F5"/>
          </a:solidFill>
          <a:ln w="63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142800" y="3265199"/>
            <a:ext cx="72000" cy="81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76000" y="3347999"/>
            <a:ext cx="24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</a:rPr>
              <a:t>실시간 연동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76000" y="3653999"/>
            <a:ext cx="24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이벤트 편집기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32799" y="3265199"/>
            <a:ext cx="2642400" cy="810000"/>
          </a:xfrm>
          <a:prstGeom prst="rect">
            <a:avLst/>
          </a:prstGeom>
          <a:solidFill>
            <a:srgbClr val="F0F2F5"/>
          </a:solidFill>
          <a:ln w="63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932799" y="3265199"/>
            <a:ext cx="72000" cy="81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65999" y="3347999"/>
            <a:ext cx="24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</a:rPr>
              <a:t>A/B 비교뷰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65999" y="3653999"/>
            <a:ext cx="24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분할화면 개발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722799" y="3265199"/>
            <a:ext cx="2642400" cy="810000"/>
          </a:xfrm>
          <a:prstGeom prst="rect">
            <a:avLst/>
          </a:prstGeom>
          <a:solidFill>
            <a:srgbClr val="F0F2F5"/>
          </a:solidFill>
          <a:ln w="63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722799" y="3265199"/>
            <a:ext cx="72000" cy="81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856000" y="3347999"/>
            <a:ext cx="24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</a:rPr>
              <a:t>시뮬레이터 연동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56000" y="3653999"/>
            <a:ext cx="24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안정화 완료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4212000"/>
            <a:ext cx="324000" cy="9000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8000" y="4320000"/>
            <a:ext cx="28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분</a:t>
            </a:r>
          </a:p>
          <a:p>
            <a:pPr algn="ctr"/>
            <a:r>
              <a:rPr sz="850" b="1">
                <a:solidFill>
                  <a:srgbClr val="FFFFFF"/>
                </a:solidFill>
              </a:rPr>
              <a:t>석</a:t>
            </a:r>
          </a:p>
          <a:p>
            <a:pPr algn="ctr"/>
            <a:r>
              <a:rPr sz="850" b="1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850" b="1">
                <a:solidFill>
                  <a:srgbClr val="FFFFFF"/>
                </a:solidFill>
              </a:rPr>
              <a:t>기</a:t>
            </a:r>
          </a:p>
          <a:p>
            <a:pPr algn="ctr"/>
            <a:r>
              <a:rPr sz="850" b="1">
                <a:solidFill>
                  <a:srgbClr val="FFFFFF"/>
                </a:solidFill>
              </a:rPr>
              <a:t>능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52800" y="4255199"/>
            <a:ext cx="2642400" cy="810000"/>
          </a:xfrm>
          <a:prstGeom prst="rect">
            <a:avLst/>
          </a:prstGeom>
          <a:solidFill>
            <a:srgbClr val="F0F2F5"/>
          </a:solidFill>
          <a:ln w="6350">
            <a:solidFill>
              <a:srgbClr val="1E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52800" y="4255199"/>
            <a:ext cx="72000" cy="8100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86000" y="4338000"/>
            <a:ext cx="24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</a:rPr>
              <a:t>교차로 분석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6000" y="4643999"/>
            <a:ext cx="24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설계·프로토타입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142800" y="4255199"/>
            <a:ext cx="2642400" cy="810000"/>
          </a:xfrm>
          <a:prstGeom prst="rect">
            <a:avLst/>
          </a:prstGeom>
          <a:solidFill>
            <a:srgbClr val="F0F2F5"/>
          </a:solidFill>
          <a:ln w="6350">
            <a:solidFill>
              <a:srgbClr val="1E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142800" y="4255199"/>
            <a:ext cx="72000" cy="8100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76000" y="4338000"/>
            <a:ext cx="24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</a:rPr>
              <a:t>속도 프로파일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76000" y="4643999"/>
            <a:ext cx="24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FCD 연동 개발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32799" y="4255199"/>
            <a:ext cx="2642400" cy="810000"/>
          </a:xfrm>
          <a:prstGeom prst="rect">
            <a:avLst/>
          </a:prstGeom>
          <a:solidFill>
            <a:srgbClr val="F0F2F5"/>
          </a:solidFill>
          <a:ln w="6350">
            <a:solidFill>
              <a:srgbClr val="1E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932799" y="4255199"/>
            <a:ext cx="72000" cy="8100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065999" y="4338000"/>
            <a:ext cx="24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</a:rPr>
              <a:t>탄소 배출 모듈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65999" y="4643999"/>
            <a:ext cx="24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MOVES 적용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722799" y="4255199"/>
            <a:ext cx="2642400" cy="810000"/>
          </a:xfrm>
          <a:prstGeom prst="rect">
            <a:avLst/>
          </a:prstGeom>
          <a:solidFill>
            <a:srgbClr val="F0F2F5"/>
          </a:solidFill>
          <a:ln w="6350">
            <a:solidFill>
              <a:srgbClr val="1E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22799" y="4255199"/>
            <a:ext cx="72000" cy="8100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856000" y="4338000"/>
            <a:ext cx="24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</a:rPr>
              <a:t>HCM 검증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856000" y="4643999"/>
            <a:ext cx="24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성과 측정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5202000"/>
            <a:ext cx="324000" cy="900000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8000" y="5310000"/>
            <a:ext cx="28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U</a:t>
            </a:r>
          </a:p>
          <a:p>
            <a:pPr algn="ctr"/>
            <a:r>
              <a:rPr sz="850" b="1">
                <a:solidFill>
                  <a:srgbClr val="FFFFFF"/>
                </a:solidFill>
              </a:rPr>
              <a:t>X</a:t>
            </a:r>
          </a:p>
          <a:p>
            <a:pPr algn="ctr"/>
            <a:r>
              <a:rPr sz="850" b="1">
                <a:solidFill>
                  <a:srgbClr val="FFFFFF"/>
                </a:solidFill>
              </a:rPr>
              <a:t>·</a:t>
            </a:r>
          </a:p>
          <a:p>
            <a:pPr algn="ctr"/>
            <a:r>
              <a:rPr sz="850" b="1">
                <a:solidFill>
                  <a:srgbClr val="FFFFFF"/>
                </a:solidFill>
              </a:rPr>
              <a:t>리</a:t>
            </a:r>
          </a:p>
          <a:p>
            <a:pPr algn="ctr"/>
            <a:r>
              <a:rPr sz="850" b="1">
                <a:solidFill>
                  <a:srgbClr val="FFFFFF"/>
                </a:solidFill>
              </a:rPr>
              <a:t>포</a:t>
            </a:r>
          </a:p>
          <a:p>
            <a:pPr algn="ctr"/>
            <a:r>
              <a:rPr sz="850" b="1">
                <a:solidFill>
                  <a:srgbClr val="FFFFFF"/>
                </a:solidFill>
              </a:rPr>
              <a:t>트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52800" y="5245199"/>
            <a:ext cx="2642400" cy="810000"/>
          </a:xfrm>
          <a:prstGeom prst="rect">
            <a:avLst/>
          </a:prstGeom>
          <a:solidFill>
            <a:srgbClr val="F0F2F5"/>
          </a:solidFill>
          <a:ln w="635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52800" y="5245199"/>
            <a:ext cx="72000" cy="810000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86000" y="5328000"/>
            <a:ext cx="24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</a:rPr>
              <a:t>영상 캡처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86000" y="5633999"/>
            <a:ext cx="24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기반 개발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142800" y="5245199"/>
            <a:ext cx="2642400" cy="810000"/>
          </a:xfrm>
          <a:prstGeom prst="rect">
            <a:avLst/>
          </a:prstGeom>
          <a:solidFill>
            <a:srgbClr val="F0F2F5"/>
          </a:solidFill>
          <a:ln w="635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142800" y="5245199"/>
            <a:ext cx="72000" cy="810000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276000" y="5328000"/>
            <a:ext cx="24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</a:rPr>
              <a:t>대시보드 UI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276000" y="5633999"/>
            <a:ext cx="24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KPI 시각화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932799" y="5245199"/>
            <a:ext cx="2642400" cy="810000"/>
          </a:xfrm>
          <a:prstGeom prst="rect">
            <a:avLst/>
          </a:prstGeom>
          <a:solidFill>
            <a:srgbClr val="F0F2F5"/>
          </a:solidFill>
          <a:ln w="635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932799" y="5245199"/>
            <a:ext cx="72000" cy="810000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065999" y="5328000"/>
            <a:ext cx="24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</a:rPr>
              <a:t>PDF 자동화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065999" y="5633999"/>
            <a:ext cx="24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리포트 엔진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722799" y="5245199"/>
            <a:ext cx="2642400" cy="810000"/>
          </a:xfrm>
          <a:prstGeom prst="rect">
            <a:avLst/>
          </a:prstGeom>
          <a:solidFill>
            <a:srgbClr val="F0F2F5"/>
          </a:solidFill>
          <a:ln w="635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722799" y="5245199"/>
            <a:ext cx="72000" cy="810000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856000" y="5328000"/>
            <a:ext cx="24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</a:rPr>
              <a:t>배포·운영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856000" y="5633999"/>
            <a:ext cx="24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사용자 테스트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410000" y="1620000"/>
            <a:ext cx="108000" cy="437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176000" y="6156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00"/>
                </a:solidFill>
              </a:rPr>
              <a:t>▼ 중간 점검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0" y="6732000"/>
            <a:ext cx="12193200" cy="12599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827999"/>
          </a:xfrm>
          <a:prstGeom prst="rect">
            <a:avLst/>
          </a:prstGeom>
          <a:solidFill>
            <a:srgbClr val="AD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5580" y="0"/>
            <a:ext cx="4267619" cy="827999"/>
          </a:xfrm>
          <a:prstGeom prst="rect">
            <a:avLst/>
          </a:prstGeom>
          <a:solidFill>
            <a:srgbClr val="FDC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59783" y="0"/>
            <a:ext cx="125999" cy="827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42681" y="0"/>
            <a:ext cx="72000" cy="827999"/>
          </a:xfrm>
          <a:prstGeom prst="rect">
            <a:avLst/>
          </a:prstGeom>
          <a:solidFill>
            <a:srgbClr val="AD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270000"/>
            <a:ext cx="21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[가이아쓰리디]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900000"/>
            <a:ext cx="11617199" cy="684000"/>
          </a:xfrm>
          <a:prstGeom prst="rect">
            <a:avLst/>
          </a:prstGeom>
          <a:solidFill>
            <a:srgbClr val="F9B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00" y="900000"/>
            <a:ext cx="162000" cy="684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8000" y="928800"/>
            <a:ext cx="1093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83E4C"/>
                </a:solidFill>
              </a:rPr>
              <a:t>기대 효과 및 활용 방안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000" y="1278000"/>
            <a:ext cx="1093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83E4C"/>
                </a:solidFill>
              </a:rPr>
              <a:t>연구 성과 및 사회·경제적 파급효과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" y="1692000"/>
            <a:ext cx="2160000" cy="1152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6000" y="1782000"/>
            <a:ext cx="2015999" cy="51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000" y="2291040"/>
            <a:ext cx="2015999" cy="23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0B0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000" y="2532960"/>
            <a:ext cx="201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네트워크
데이터 품질 향상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28000" y="1692000"/>
            <a:ext cx="2160000" cy="115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0000" y="1782000"/>
            <a:ext cx="2015999" cy="51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60%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2291040"/>
            <a:ext cx="2015999" cy="23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0B0"/>
                </a:solidFill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0000" y="2532960"/>
            <a:ext cx="201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초기 구축
시간 단축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2000" y="1692000"/>
            <a:ext cx="2160000" cy="11520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4000" y="1782000"/>
            <a:ext cx="2015999" cy="51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70%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04000" y="2291040"/>
            <a:ext cx="2015999" cy="23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0B0"/>
                </a:solidFill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04000" y="2532960"/>
            <a:ext cx="201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보고서 작성
비용 절감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36000" y="1692000"/>
            <a:ext cx="2160000" cy="1152000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08000" y="1782000"/>
            <a:ext cx="2015999" cy="51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08000" y="2291040"/>
            <a:ext cx="2015999" cy="23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0B0"/>
                </a:solidFill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08000" y="2532960"/>
            <a:ext cx="201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교차로 운영
효율 향상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40000" y="1692000"/>
            <a:ext cx="2160000" cy="1152000"/>
          </a:xfrm>
          <a:prstGeom prst="rect">
            <a:avLst/>
          </a:prstGeom>
          <a:solidFill>
            <a:srgbClr val="F9B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12000" y="1782000"/>
            <a:ext cx="2015999" cy="51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83E4C"/>
                </a:solidFill>
              </a:rPr>
              <a:t>&lt;500ms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12000" y="2291040"/>
            <a:ext cx="2015999" cy="23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0B0"/>
                </a:solidFill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12000" y="2532960"/>
            <a:ext cx="201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실시간
응답 지연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000" y="2988000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3E4C"/>
                </a:solidFill>
              </a:rPr>
              <a:t>▶  주요 활용 방안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000" y="3240000"/>
            <a:ext cx="11545200" cy="1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4000" y="3348000"/>
            <a:ext cx="3780000" cy="172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4000" y="3348000"/>
            <a:ext cx="3780000" cy="234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2000" y="3376800"/>
            <a:ext cx="356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행정·정책 활용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2000" y="3690000"/>
            <a:ext cx="64800" cy="648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7200" y="3661200"/>
            <a:ext cx="3491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교통영향평가 보고서 자동화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000" y="3949200"/>
            <a:ext cx="64800" cy="648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7200" y="3920400"/>
            <a:ext cx="3491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지자체·공공기관 교통운영 의사결정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2000" y="4208400"/>
            <a:ext cx="64800" cy="648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7200" y="4179600"/>
            <a:ext cx="3491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도로 신설·개선 사업 사전 검토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48000" y="3348000"/>
            <a:ext cx="3780000" cy="172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48000" y="3348000"/>
            <a:ext cx="3780000" cy="23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56000" y="3376800"/>
            <a:ext cx="356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산업·연구 활용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56000" y="3690000"/>
            <a:ext cx="64800" cy="64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71200" y="3661200"/>
            <a:ext cx="3491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C-ITS·자율주행 시뮬레이션 환경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56000" y="3949200"/>
            <a:ext cx="64800" cy="64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71200" y="3920400"/>
            <a:ext cx="3491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대학·연구기관 교육·연구 플랫폼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56000" y="4208400"/>
            <a:ext cx="64800" cy="64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71200" y="4179600"/>
            <a:ext cx="3491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민간 교통 컨설팅 기관 도구 제공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72000" y="3348000"/>
            <a:ext cx="3780000" cy="172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172000" y="3348000"/>
            <a:ext cx="3780000" cy="2340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80000" y="3376800"/>
            <a:ext cx="356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환경·지속가능성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80000" y="3690000"/>
            <a:ext cx="64800" cy="648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95200" y="3661200"/>
            <a:ext cx="3491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탄소 저감 시나리오 정량 비교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80000" y="3949200"/>
            <a:ext cx="64800" cy="648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95200" y="3920400"/>
            <a:ext cx="3491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친환경 교통정책 효과 입증 근거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80000" y="4208400"/>
            <a:ext cx="64800" cy="64800"/>
          </a:xfrm>
          <a:prstGeom prst="rect">
            <a:avLst/>
          </a:prstGeom>
          <a:solidFill>
            <a:srgbClr val="1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95200" y="4179600"/>
            <a:ext cx="3491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국가 온실가스 감축 목표 기여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390000"/>
            <a:ext cx="12193200" cy="342000"/>
          </a:xfrm>
          <a:prstGeom prst="rect">
            <a:avLst/>
          </a:prstGeom>
          <a:solidFill>
            <a:srgbClr val="38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0000" y="6418800"/>
            <a:ext cx="114732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BE36"/>
                </a:solidFill>
              </a:rPr>
              <a:t>본 연구를 통해 대한민국 교통 디지털트윈의 표준 플랫폼을 구축합니다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732000"/>
            <a:ext cx="12193200" cy="12599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