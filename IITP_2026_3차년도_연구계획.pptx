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9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24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2400" y="0"/>
            <a:ext cx="21600" cy="68580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920" y="0"/>
            <a:ext cx="4877279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920" y="0"/>
            <a:ext cx="216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999" y="158400"/>
            <a:ext cx="1368000" cy="18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600" y="165600"/>
            <a:ext cx="1339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IITP 정보통신기획평가원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468000"/>
            <a:ext cx="662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1426"/>
                </a:solidFill>
              </a:rPr>
              <a:t>광역권 도시교통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1022400"/>
            <a:ext cx="6623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4ED8"/>
                </a:solidFill>
              </a:rPr>
              <a:t>디지털트윈 시뮬레이션 플랫폼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999" y="1526400"/>
            <a:ext cx="2880000" cy="36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5200" y="1526400"/>
            <a:ext cx="1080000" cy="360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999" y="1598400"/>
            <a:ext cx="6480000" cy="19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3차년도 연구계획  ·  2026년도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999" y="1785600"/>
            <a:ext cx="6480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도시계획 지원 교통 시뮬레이션 구현 완성  |  LH 협력 실증 준비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999" y="2023200"/>
            <a:ext cx="1152000" cy="18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200" y="2034000"/>
            <a:ext cx="1065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신도시 시나리오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8800" y="2023200"/>
            <a:ext cx="1263600" cy="187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12000" y="2034000"/>
            <a:ext cx="117719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도시정비 시나리오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7200" y="2023200"/>
            <a:ext cx="1040399" cy="18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0400" y="2034000"/>
            <a:ext cx="95399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교통계획 평가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02400" y="2023200"/>
            <a:ext cx="1040399" cy="18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45599" y="2034000"/>
            <a:ext cx="95399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분석 대시보드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7600" y="2023200"/>
            <a:ext cx="1152000" cy="18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0800" y="2034000"/>
            <a:ext cx="1065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LH 실증 준비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999" y="2628000"/>
            <a:ext cx="5328000" cy="21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1999" y="2628000"/>
            <a:ext cx="2088000" cy="216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6799" y="2523600"/>
            <a:ext cx="230400" cy="2304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6799" y="2523600"/>
            <a:ext cx="2304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-72000" y="28368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1차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72000" y="29952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144000" y="3168000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기반 설계·데이터 모델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399" y="3405600"/>
            <a:ext cx="403200" cy="115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99" y="3409200"/>
            <a:ext cx="4032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35" name="Oval 34"/>
          <p:cNvSpPr/>
          <p:nvPr/>
        </p:nvSpPr>
        <p:spPr>
          <a:xfrm>
            <a:off x="1908000" y="2523600"/>
            <a:ext cx="230400" cy="2304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08000" y="2523600"/>
            <a:ext cx="2304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9200" y="28368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2차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9200" y="29952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199" y="3168000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프로토타입·핵심 기능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1600" y="3405600"/>
            <a:ext cx="403200" cy="115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1600" y="3409200"/>
            <a:ext cx="4032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42" name="Oval 41"/>
          <p:cNvSpPr/>
          <p:nvPr/>
        </p:nvSpPr>
        <p:spPr>
          <a:xfrm>
            <a:off x="3600000" y="2444400"/>
            <a:ext cx="388800" cy="388800"/>
          </a:xfrm>
          <a:prstGeom prst="ellipse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650399" y="2494800"/>
            <a:ext cx="288000" cy="2880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0399" y="2494800"/>
            <a:ext cx="28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0399" y="28368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6"/>
                </a:solidFill>
              </a:rPr>
              <a:t>3차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0399" y="29952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426"/>
                </a:solidFill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8400" y="3168000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569"/>
                </a:solidFill>
              </a:rPr>
              <a:t>구현 완성·시나리오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92799" y="3405600"/>
            <a:ext cx="403200" cy="11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92799" y="3409200"/>
            <a:ext cx="4032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50" name="Oval 49"/>
          <p:cNvSpPr/>
          <p:nvPr/>
        </p:nvSpPr>
        <p:spPr>
          <a:xfrm>
            <a:off x="5450400" y="2523600"/>
            <a:ext cx="230400" cy="23040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50400" y="2523600"/>
            <a:ext cx="230400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41600" y="28368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4차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41600" y="2995200"/>
            <a:ext cx="64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2027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69600" y="3168000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LH 실증·서비스 전환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63999" y="3405600"/>
            <a:ext cx="403200" cy="115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63999" y="3409200"/>
            <a:ext cx="4032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예정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1999" y="3671999"/>
            <a:ext cx="6623999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1999" y="3708000"/>
            <a:ext cx="503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주관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8000" y="3708000"/>
            <a:ext cx="1728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5569"/>
                </a:solidFill>
              </a:rPr>
              <a:t>KAIST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48000" y="3708000"/>
            <a:ext cx="503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참여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44000" y="3708000"/>
            <a:ext cx="1728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5569"/>
                </a:solidFill>
              </a:rPr>
              <a:t>KOTI · Gaia3D · LaonRoad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43999" y="3708000"/>
            <a:ext cx="503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</a:rPr>
              <a:t>협력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39999" y="3708000"/>
            <a:ext cx="1728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75569"/>
                </a:solidFill>
              </a:rPr>
              <a:t>LH 한국토지주택공사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1999" y="3902400"/>
            <a:ext cx="6623999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51999" y="3967200"/>
            <a:ext cx="1105200" cy="15840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8000" y="3974399"/>
            <a:ext cx="10548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CesiumJS 3D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07600" y="3967200"/>
            <a:ext cx="1270800" cy="15840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43600" y="3974399"/>
            <a:ext cx="12204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OpenLayers 2D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28800" y="3967200"/>
            <a:ext cx="1105200" cy="15840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64800" y="3974399"/>
            <a:ext cx="10548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SUMO·VISSIM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84400" y="3967200"/>
            <a:ext cx="1022400" cy="15840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20400" y="3974399"/>
            <a:ext cx="97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React + 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57200" y="3967200"/>
            <a:ext cx="1105200" cy="15840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3200" y="3974399"/>
            <a:ext cx="10548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Spring Boot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12800" y="3967200"/>
            <a:ext cx="1684800" cy="15840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48800" y="3974399"/>
            <a:ext cx="16344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PostgreSQL/PostGIS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1999" y="4190400"/>
            <a:ext cx="6623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연구 기간  2024.07 ~ 2027.12  (총 4년, 정부출연금 기반 과제)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13920" y="576000"/>
            <a:ext cx="458207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</a:rPr>
              <a:t>3차년도  구현 완성 단계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13920" y="784800"/>
            <a:ext cx="4582079" cy="56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도시계획 지원</a:t>
            </a:r>
          </a:p>
          <a:p>
            <a:pPr algn="l"/>
            <a:r>
              <a:rPr sz="2000" b="1">
                <a:solidFill>
                  <a:srgbClr val="FFFFFF"/>
                </a:solidFill>
              </a:rPr>
              <a:t>교통 시뮬레이션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13920" y="1375200"/>
            <a:ext cx="2061935" cy="2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13920" y="1526400"/>
            <a:ext cx="4582079" cy="167999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13920" y="1526400"/>
            <a:ext cx="72000" cy="167999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13920" y="1526400"/>
            <a:ext cx="4582079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13920" y="1656000"/>
            <a:ext cx="4582079" cy="8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 / 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13920" y="2539200"/>
            <a:ext cx="4582079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차년도 현재 진행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636320" y="3098399"/>
            <a:ext cx="4409279" cy="50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36320" y="3098399"/>
            <a:ext cx="3306959" cy="5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13920" y="3245999"/>
            <a:ext cx="4582079" cy="167999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13920" y="3245999"/>
            <a:ext cx="72000" cy="167999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13920" y="3245999"/>
            <a:ext cx="4582079" cy="36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513920" y="3375599"/>
            <a:ext cx="4582079" cy="8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13920" y="4258799"/>
            <a:ext cx="4582079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플랫폼 주관 기관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36320" y="4817999"/>
            <a:ext cx="4409279" cy="50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636320" y="4817999"/>
            <a:ext cx="4409279" cy="50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13920" y="4965600"/>
            <a:ext cx="4582079" cy="167999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513920" y="4965600"/>
            <a:ext cx="72000" cy="1679999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13920" y="4965600"/>
            <a:ext cx="4582079" cy="36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513920" y="5095200"/>
            <a:ext cx="4582079" cy="83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13920" y="5978400"/>
            <a:ext cx="4582079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B82F6"/>
                </a:solidFill>
              </a:rPr>
              <a:t>플랫폼 완성 목표 연도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636320" y="6537600"/>
            <a:ext cx="4409279" cy="50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636320" y="6537600"/>
            <a:ext cx="4409279" cy="50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6764400"/>
            <a:ext cx="12193200" cy="93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67644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199" y="1368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</a:rPr>
              <a:t>광역권 AI 모빌리티 시뮬레이션 플랫폼  ·  3차년도 연구계획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7199" y="4248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200" b="1" i="0">
                <a:solidFill>
                  <a:srgbClr val="E2E8F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482400"/>
            <a:ext cx="9961200" cy="34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426"/>
                </a:solidFill>
              </a:rPr>
              <a:t>전체 연구 계획 및 3차년도 위상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827999"/>
            <a:ext cx="9961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4개년 연구 로드맵  ·  현재 3차년도 구현 완성 단계  ·  2차년도 주요 성과 인계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1015200"/>
            <a:ext cx="1260000" cy="2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99200" y="1015200"/>
            <a:ext cx="432000" cy="25200"/>
          </a:xfrm>
          <a:prstGeom prst="rect">
            <a:avLst/>
          </a:prstGeom>
          <a:solidFill>
            <a:srgbClr val="6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4400" y="1015200"/>
            <a:ext cx="198000" cy="25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0000" y="1375200"/>
            <a:ext cx="11257200" cy="21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600" y="1058400"/>
            <a:ext cx="2721600" cy="9288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6000" y="1036800"/>
            <a:ext cx="2721600" cy="928800"/>
          </a:xfrm>
          <a:prstGeom prst="rect">
            <a:avLst/>
          </a:prstGeom>
          <a:solidFill>
            <a:srgbClr val="F1F5F9"/>
          </a:solidFill>
          <a:ln w="381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000" y="1036800"/>
            <a:ext cx="2721600" cy="136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55999" y="1274400"/>
            <a:ext cx="201600" cy="2016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5999" y="1274400"/>
            <a:ext cx="201600" cy="2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77600" y="1065600"/>
            <a:ext cx="511200" cy="12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77600" y="1065600"/>
            <a:ext cx="5112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800" y="1065600"/>
            <a:ext cx="21024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1차년도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800" y="1548000"/>
            <a:ext cx="25631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800" y="1706400"/>
            <a:ext cx="25631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요구사항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800" y="1864800"/>
            <a:ext cx="25631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기능 설계·DB 모델</a:t>
            </a:r>
          </a:p>
        </p:txBody>
      </p:sp>
      <p:sp>
        <p:nvSpPr>
          <p:cNvPr id="26" name="Can 25"/>
          <p:cNvSpPr/>
          <p:nvPr/>
        </p:nvSpPr>
        <p:spPr>
          <a:xfrm>
            <a:off x="3131999" y="1324800"/>
            <a:ext cx="157199" cy="136800"/>
          </a:xfrm>
          <a:prstGeom prst="ca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0799" y="1058400"/>
            <a:ext cx="2721600" cy="9288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89199" y="1036800"/>
            <a:ext cx="2721600" cy="928800"/>
          </a:xfrm>
          <a:prstGeom prst="rect">
            <a:avLst/>
          </a:prstGeom>
          <a:solidFill>
            <a:srgbClr val="F1F5F9"/>
          </a:solidFill>
          <a:ln w="381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89199" y="1036800"/>
            <a:ext cx="2721600" cy="136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49199" y="1274400"/>
            <a:ext cx="201600" cy="2016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9199" y="1274400"/>
            <a:ext cx="201600" cy="2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70800" y="1065600"/>
            <a:ext cx="511200" cy="12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70800" y="1065600"/>
            <a:ext cx="5112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9999" y="1065600"/>
            <a:ext cx="21024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2차년도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9999" y="1548000"/>
            <a:ext cx="25631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9999" y="1706400"/>
            <a:ext cx="25631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프로토타입 구축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9999" y="1864800"/>
            <a:ext cx="25631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핵심 기능 1차 구현</a:t>
            </a:r>
          </a:p>
        </p:txBody>
      </p:sp>
      <p:sp>
        <p:nvSpPr>
          <p:cNvPr id="38" name="Can 37"/>
          <p:cNvSpPr/>
          <p:nvPr/>
        </p:nvSpPr>
        <p:spPr>
          <a:xfrm>
            <a:off x="6025199" y="1324800"/>
            <a:ext cx="157199" cy="136800"/>
          </a:xfrm>
          <a:prstGeom prst="can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03999" y="1058400"/>
            <a:ext cx="2721600" cy="10296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2399" y="1036800"/>
            <a:ext cx="2721600" cy="1029600"/>
          </a:xfrm>
          <a:prstGeom prst="rect">
            <a:avLst/>
          </a:prstGeom>
          <a:solidFill>
            <a:srgbClr val="FFFFFF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82399" y="1036800"/>
            <a:ext cx="2721600" cy="136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13600" y="1245600"/>
            <a:ext cx="259200" cy="259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13600" y="1245600"/>
            <a:ext cx="259200" cy="25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3999" y="1065600"/>
            <a:ext cx="511200" cy="12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3999" y="1065600"/>
            <a:ext cx="5112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3200" y="1065600"/>
            <a:ext cx="21024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3차년도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3200" y="1548000"/>
            <a:ext cx="25631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4ED8"/>
                </a:solidFill>
              </a:rPr>
              <a:t>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3200" y="1706400"/>
            <a:ext cx="25631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구현 완성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3200" y="1864800"/>
            <a:ext cx="25631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시나리오·분석·대시보드</a:t>
            </a:r>
          </a:p>
        </p:txBody>
      </p:sp>
      <p:sp>
        <p:nvSpPr>
          <p:cNvPr id="50" name="Can 49"/>
          <p:cNvSpPr/>
          <p:nvPr/>
        </p:nvSpPr>
        <p:spPr>
          <a:xfrm>
            <a:off x="8918399" y="1324800"/>
            <a:ext cx="157199" cy="136800"/>
          </a:xfrm>
          <a:prstGeom prst="ca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97199" y="1058400"/>
            <a:ext cx="2721600" cy="9288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75599" y="1036800"/>
            <a:ext cx="2721600" cy="928800"/>
          </a:xfrm>
          <a:prstGeom prst="rect">
            <a:avLst/>
          </a:prstGeom>
          <a:solidFill>
            <a:srgbClr val="F0FDFA"/>
          </a:solidFill>
          <a:ln w="381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75599" y="1036800"/>
            <a:ext cx="2721600" cy="136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335599" y="1274400"/>
            <a:ext cx="201600" cy="2016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35599" y="1274400"/>
            <a:ext cx="201600" cy="20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257199" y="1065600"/>
            <a:ext cx="511200" cy="122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57199" y="1065600"/>
            <a:ext cx="5112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예정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76400" y="1065600"/>
            <a:ext cx="21024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4차년도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76400" y="1548000"/>
            <a:ext cx="25631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2027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76400" y="1706400"/>
            <a:ext cx="25631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LH 실증·고도화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76400" y="1864800"/>
            <a:ext cx="25631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서비스 전환·안정화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6000" y="2160000"/>
            <a:ext cx="11401200" cy="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6000" y="2196000"/>
            <a:ext cx="57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</a:rPr>
              <a:t>3차년도 5대 핵심 추진 과제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4000" y="2394000"/>
            <a:ext cx="2222640" cy="43668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96000" y="2376000"/>
            <a:ext cx="2222640" cy="43668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96000" y="2376000"/>
            <a:ext cx="2222640" cy="12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399319" y="2602800"/>
            <a:ext cx="216000" cy="2160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99319" y="2602800"/>
            <a:ext cx="21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3600" y="2390400"/>
            <a:ext cx="21074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세부과제 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3600" y="2844000"/>
            <a:ext cx="210743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426"/>
                </a:solidFill>
              </a:rPr>
              <a:t>신도시/도시정비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3600" y="3016799"/>
            <a:ext cx="210743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426"/>
                </a:solidFill>
              </a:rPr>
              <a:t>시나리오 구현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3600" y="3225599"/>
            <a:ext cx="2107439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80600" y="3680549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61600" y="35455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3기 신도시 6곳 교통계획 시뮬레이션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0600" y="455085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1600" y="4415850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재개발·재건축 교통영향평가 자동화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600" y="5421149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1600" y="52861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노후계획도시 재정비 시나리오 구현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0600" y="6291449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1600" y="61564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A/B 비교 분석 대시보드 연동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08640" y="2394000"/>
            <a:ext cx="2222640" cy="43668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690640" y="2376000"/>
            <a:ext cx="2222640" cy="43668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690640" y="2376000"/>
            <a:ext cx="2222640" cy="12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693959" y="2602800"/>
            <a:ext cx="216000" cy="2160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93959" y="2602800"/>
            <a:ext cx="21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8240" y="2390400"/>
            <a:ext cx="21074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세부과제 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8240" y="2844000"/>
            <a:ext cx="210743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426"/>
                </a:solidFill>
              </a:rPr>
              <a:t>교통계획 평가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8240" y="3016799"/>
            <a:ext cx="210743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426"/>
                </a:solidFill>
              </a:rPr>
              <a:t>시뮬레이션 완성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8240" y="3225599"/>
            <a:ext cx="2107439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75240" y="3680549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56240" y="35455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SUMO·VISSIM 속성 매핑 자동화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75240" y="455085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56240" y="4415850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OSM·국가교통DB Import 완성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75240" y="5421149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56240" y="52861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차종별 거동 모델 완전 구현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75240" y="6291449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56240" y="61564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REST API OpenAPI 3.0 표준화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03280" y="2394000"/>
            <a:ext cx="2222640" cy="43668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985280" y="2376000"/>
            <a:ext cx="2222640" cy="43668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985280" y="2376000"/>
            <a:ext cx="2222640" cy="12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988599" y="2602800"/>
            <a:ext cx="216000" cy="2160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88599" y="2602800"/>
            <a:ext cx="21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42880" y="2390400"/>
            <a:ext cx="21074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세부과제 03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42880" y="2844000"/>
            <a:ext cx="210743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426"/>
                </a:solidFill>
              </a:rPr>
              <a:t>교통 분석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42880" y="3016799"/>
            <a:ext cx="210743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426"/>
                </a:solidFill>
              </a:rPr>
              <a:t>고도화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42880" y="3225599"/>
            <a:ext cx="2107439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069879" y="3680549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50880" y="35455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HCM 6판 교차로 LOS 자동 산출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069879" y="455085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150880" y="4415850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구간 속도 프로파일 시계열 분석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69879" y="5421149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150880" y="52861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MOVES 2014b 탄소배출 추정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069879" y="6291449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150880" y="61564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A/B 시나리오 비교 뷰어 구현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297920" y="2394000"/>
            <a:ext cx="2222640" cy="43668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279920" y="2376000"/>
            <a:ext cx="2222640" cy="43668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279920" y="2376000"/>
            <a:ext cx="2222640" cy="12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283240" y="2602800"/>
            <a:ext cx="216000" cy="216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83240" y="2602800"/>
            <a:ext cx="21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337520" y="2390400"/>
            <a:ext cx="21074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세부과제 04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37520" y="2844000"/>
            <a:ext cx="210743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426"/>
                </a:solidFill>
              </a:rPr>
              <a:t>교통 분석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337520" y="3016799"/>
            <a:ext cx="210743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426"/>
                </a:solidFill>
              </a:rPr>
              <a:t>대시보드 구현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37520" y="3225599"/>
            <a:ext cx="2107439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364520" y="3680549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445520" y="35455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실시간 KPI 6종 + 혼잡도 5단계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364520" y="4550850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445520" y="4415850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시계열 차트 (교통량·속도) 완성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364520" y="5421149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445520" y="52861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차량 유형·속도 분포 차트 구현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364520" y="6291449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445520" y="61564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WebSocket 실시간 스트리밍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592560" y="2394000"/>
            <a:ext cx="2222640" cy="43668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574560" y="2376000"/>
            <a:ext cx="2222640" cy="43668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574560" y="2376000"/>
            <a:ext cx="2222640" cy="12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577880" y="2602800"/>
            <a:ext cx="216000" cy="216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577880" y="2602800"/>
            <a:ext cx="21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632160" y="2390400"/>
            <a:ext cx="21074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세부과제 05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632160" y="2844000"/>
            <a:ext cx="210743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426"/>
                </a:solidFill>
              </a:rPr>
              <a:t>플랫폼 완성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632160" y="3016799"/>
            <a:ext cx="2107439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1426"/>
                </a:solidFill>
              </a:rPr>
              <a:t>LH 실증 준비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632160" y="3225599"/>
            <a:ext cx="2107439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659160" y="3680549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740160" y="35455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교통영향평가 PDF 자동 리포트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659160" y="455085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740160" y="4415850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3기 신도시 LH 실증 환경 구축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659160" y="5421149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740160" y="52861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CRDT 다중 사용자 협업 완성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659160" y="6291449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740160" y="6156449"/>
            <a:ext cx="2006640" cy="30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Docker + K8s 컨테이너 배포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0" y="6764400"/>
            <a:ext cx="12193200" cy="93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0" y="67644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199" y="1368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</a:rPr>
              <a:t>광역권 AI 모빌리티 시뮬레이션 플랫폼  ·  3차년도 연구계획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7199" y="4248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200" b="1" i="0">
                <a:solidFill>
                  <a:srgbClr val="E2E8F0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482400"/>
            <a:ext cx="9961200" cy="34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426"/>
                </a:solidFill>
              </a:rPr>
              <a:t>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827999"/>
            <a:ext cx="9961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3차년도 연구 추진 체계 및 세부 과제 구성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1015200"/>
            <a:ext cx="1260000" cy="2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99200" y="1015200"/>
            <a:ext cx="432000" cy="25200"/>
          </a:xfrm>
          <a:prstGeom prst="rect">
            <a:avLst/>
          </a:prstGeom>
          <a:solidFill>
            <a:srgbClr val="6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4400" y="1015200"/>
            <a:ext cx="198000" cy="25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600" y="1058400"/>
            <a:ext cx="5661000" cy="97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1036800"/>
            <a:ext cx="5661000" cy="97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6000" y="1036800"/>
            <a:ext cx="5661000" cy="79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2800" y="997199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800" y="997199"/>
            <a:ext cx="158400" cy="1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D4ED8"/>
                </a:solidFill>
              </a:rPr>
              <a:t>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600" y="1137600"/>
            <a:ext cx="10800" cy="82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00" y="1130400"/>
            <a:ext cx="5121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426"/>
                </a:solidFill>
              </a:rPr>
              <a:t>신도시/도시정비 시나리오 구현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400" y="1346400"/>
            <a:ext cx="5121000" cy="41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3기 신도시(남양주왕숙·하남교산·인천계양 등)·구도심 재개발·노후계획도시 재정비 3종 유스케이스 완전 구현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2400" y="1778399"/>
            <a:ext cx="51210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2400" y="1807199"/>
            <a:ext cx="5121000" cy="151200"/>
          </a:xfrm>
          <a:prstGeom prst="rect">
            <a:avLst/>
          </a:prstGeom>
          <a:solidFill>
            <a:srgbClr val="DBE9FE"/>
          </a:solidFill>
          <a:ln w="50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400" y="1814400"/>
            <a:ext cx="5049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■  시나리오 3종  ·  LH 협력 검증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7800" y="1058400"/>
            <a:ext cx="5661000" cy="97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36200" y="1036800"/>
            <a:ext cx="5661000" cy="97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36200" y="1036800"/>
            <a:ext cx="5661000" cy="79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73000" y="997199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3000" y="997199"/>
            <a:ext cx="158400" cy="1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59669"/>
                </a:solidFill>
              </a:rPr>
              <a:t>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7800" y="1137600"/>
            <a:ext cx="10800" cy="82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2600" y="1130400"/>
            <a:ext cx="5121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426"/>
                </a:solidFill>
              </a:rPr>
              <a:t>교통계획 평가 시뮬레이션 완성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2600" y="1346400"/>
            <a:ext cx="5121000" cy="41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SUMO·VISSIM 완전 연동, OSM·국가교통DB 자동 Import, 네트워크 편집 고도화, REST API 표준 완성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2600" y="1778399"/>
            <a:ext cx="51210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2600" y="1807199"/>
            <a:ext cx="5121000" cy="151200"/>
          </a:xfrm>
          <a:prstGeom prst="rect">
            <a:avLst/>
          </a:prstGeom>
          <a:solidFill>
            <a:srgbClr val="D1FAE5"/>
          </a:solidFill>
          <a:ln w="50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8600" y="1814400"/>
            <a:ext cx="5049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■  Import 80% 단축  ·  OpenAPI 3.0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00" y="2095199"/>
            <a:ext cx="5661000" cy="97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000" y="2073600"/>
            <a:ext cx="5661000" cy="97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000" y="2073600"/>
            <a:ext cx="5661000" cy="79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2800" y="203400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2800" y="2034000"/>
            <a:ext cx="158400" cy="1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891B2"/>
                </a:solidFill>
              </a:rPr>
              <a:t>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600" y="2174400"/>
            <a:ext cx="10800" cy="82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2400" y="2167200"/>
            <a:ext cx="5121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426"/>
                </a:solidFill>
              </a:rPr>
              <a:t>교통 분석 고도화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2400" y="2383200"/>
            <a:ext cx="5121000" cy="41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HCM 6판 기준 교차로 LOS 자동 산출, 구간 속도 프로파일, MOVES 2014b 탄소배출 추정, A/B 비교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2400" y="2815200"/>
            <a:ext cx="51210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2400" y="2844000"/>
            <a:ext cx="5121000" cy="151200"/>
          </a:xfrm>
          <a:prstGeom prst="rect">
            <a:avLst/>
          </a:prstGeom>
          <a:solidFill>
            <a:srgbClr val="CCF0F8"/>
          </a:solidFill>
          <a:ln w="50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8400" y="2851200"/>
            <a:ext cx="5049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891B2"/>
                </a:solidFill>
              </a:rPr>
              <a:t>■  3종 분석 자동화  ·  이상치 감지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57800" y="2095199"/>
            <a:ext cx="5661000" cy="97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36200" y="2073600"/>
            <a:ext cx="5661000" cy="97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36200" y="2073600"/>
            <a:ext cx="5661000" cy="79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273000" y="203400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73000" y="2034000"/>
            <a:ext cx="158400" cy="1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</a:rPr>
              <a:t>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17800" y="2174400"/>
            <a:ext cx="10800" cy="82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2600" y="2167200"/>
            <a:ext cx="5121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426"/>
                </a:solidFill>
              </a:rPr>
              <a:t>교통 분석 대시보드 구현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2600" y="2383200"/>
            <a:ext cx="5121000" cy="41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실시간 KPI 6종, 혼잡도 5단계, 시계열(교통량·속도) 차트, 차량·속도 분포 차트 완성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2600" y="2815200"/>
            <a:ext cx="51210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82600" y="2844000"/>
            <a:ext cx="5121000" cy="151200"/>
          </a:xfrm>
          <a:prstGeom prst="rect">
            <a:avLst/>
          </a:prstGeom>
          <a:solidFill>
            <a:srgbClr val="FEF3C7"/>
          </a:solidFill>
          <a:ln w="50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18600" y="2851200"/>
            <a:ext cx="5049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</a:rPr>
              <a:t>■  완성도 100%  ·  비전문가 활용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7600" y="3132000"/>
            <a:ext cx="5661000" cy="97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96000" y="3110400"/>
            <a:ext cx="5661000" cy="97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96000" y="3110400"/>
            <a:ext cx="5661000" cy="79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32800" y="307080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2800" y="3070800"/>
            <a:ext cx="158400" cy="1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C3AED"/>
                </a:solidFill>
              </a:rPr>
              <a:t>05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600" y="3211200"/>
            <a:ext cx="10800" cy="82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2400" y="3204000"/>
            <a:ext cx="5121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426"/>
                </a:solidFill>
              </a:rPr>
              <a:t>플랫폼 완성 및 LH 실증 준비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2400" y="3420000"/>
            <a:ext cx="5121000" cy="41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교통영향평가 PDF 자동 생성, 3기 신도시 LH 실증 환경, CRDT 협업, Docker·K8s 배포 자동화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2400" y="3852000"/>
            <a:ext cx="51210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2400" y="3880800"/>
            <a:ext cx="5121000" cy="151200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8400" y="3888000"/>
            <a:ext cx="5049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■  보고서 70% 단축  ·  실증 준비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57800" y="3132000"/>
            <a:ext cx="5661000" cy="97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36200" y="3110400"/>
            <a:ext cx="5661000" cy="97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36200" y="3110400"/>
            <a:ext cx="5661000" cy="79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73000" y="307080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73000" y="3070800"/>
            <a:ext cx="158400" cy="1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</a:rPr>
              <a:t>06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17800" y="3211200"/>
            <a:ext cx="10800" cy="82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2600" y="3204000"/>
            <a:ext cx="51210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426"/>
                </a:solidFill>
              </a:rPr>
              <a:t>추진 일정  —  분기별 로드맵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2600" y="3420000"/>
            <a:ext cx="5121000" cy="41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Q1 기반 설계, Q2 핵심 기능 개발, Q3 기능 완성·연동, Q4 검증·배포 단계별 마일스톤 계획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2600" y="3852000"/>
            <a:ext cx="51210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2600" y="3880800"/>
            <a:ext cx="5121000" cy="151200"/>
          </a:xfrm>
          <a:prstGeom prst="rect">
            <a:avLst/>
          </a:prstGeom>
          <a:solidFill>
            <a:srgbClr val="FEE2E2"/>
          </a:solidFill>
          <a:ln w="50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18600" y="3888000"/>
            <a:ext cx="5049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C2626"/>
                </a:solidFill>
              </a:rPr>
              <a:t>■  Q2 중간점검  ·  Q4 최종 완성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7600" y="4168800"/>
            <a:ext cx="11401200" cy="97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96000" y="4147200"/>
            <a:ext cx="11401200" cy="97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96000" y="4147200"/>
            <a:ext cx="11401200" cy="79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32800" y="4107599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2800" y="4107599"/>
            <a:ext cx="158400" cy="1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D4ED8"/>
                </a:solidFill>
              </a:rPr>
              <a:t>07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7600" y="4248000"/>
            <a:ext cx="10800" cy="82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2400" y="4240800"/>
            <a:ext cx="10861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426"/>
                </a:solidFill>
              </a:rPr>
              <a:t>기대 효과 및 활용 방안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2400" y="4456800"/>
            <a:ext cx="10861200" cy="41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신도시·행정·환경 3대 분야 활용, 보고서 70% 단축, LOS 자동화, 탄소 저감 정량화, 사회경제 파급효과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2400" y="4888800"/>
            <a:ext cx="108612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2400" y="4917600"/>
            <a:ext cx="10861200" cy="151200"/>
          </a:xfrm>
          <a:prstGeom prst="rect">
            <a:avLst/>
          </a:prstGeom>
          <a:solidFill>
            <a:srgbClr val="DBE9FE"/>
          </a:solidFill>
          <a:ln w="50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78400" y="4924800"/>
            <a:ext cx="107892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4ED8"/>
                </a:solidFill>
              </a:rPr>
              <a:t>■  정량 KPI 6종  ·  4개 활용 분야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764400"/>
            <a:ext cx="12193200" cy="93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0" y="67644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296000" cy="266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93600"/>
            <a:ext cx="1195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세부과제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3199" y="1368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</a:rPr>
              <a:t>광역권 AI 모빌리티 시뮬레이션 플랫폼  ·  3차년도 연구계획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7199" y="4248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200" b="1" i="0">
                <a:solidFill>
                  <a:srgbClr val="E2E8F0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482400"/>
            <a:ext cx="9961200" cy="34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426"/>
                </a:solidFill>
              </a:rPr>
              <a:t>신도시/도시정비 시나리오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827999"/>
            <a:ext cx="9961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3기 신도시 6곳 · 구도심 재개발·재건축 · 노후계획도시 재정비 — 3종 유스케이스 완전 구현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1015200"/>
            <a:ext cx="1260000" cy="2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9200" y="1015200"/>
            <a:ext cx="432000" cy="25200"/>
          </a:xfrm>
          <a:prstGeom prst="rect">
            <a:avLst/>
          </a:prstGeom>
          <a:solidFill>
            <a:srgbClr val="6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4400" y="1015200"/>
            <a:ext cx="198000" cy="25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800" y="1065600"/>
            <a:ext cx="3798000" cy="5353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6000" y="1036800"/>
            <a:ext cx="3798000" cy="5353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000" y="1036800"/>
            <a:ext cx="3798000" cy="158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6000" y="1195200"/>
            <a:ext cx="3798000" cy="648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84400" y="10224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4400" y="10224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</a:rPr>
              <a:t>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800" y="12240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3기 신도시 개발 시나리오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800" y="14976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200" y="18939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200" y="1721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남양주왕숙·하남교산·인천계양·고양창릉·부천대장·과천 6개 신도시 시나리오 구현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8200" y="26757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200" y="25029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광역교통망 GTX-A·B·C / BRT / 도시철도 연계 수요 분석 및 환승 시뮬레이션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8200" y="34575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200" y="3284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시간대별 OD 행렬 기반 교통 수요 발생·배분·배정 모델 자동 적용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8200" y="42393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200" y="40665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신규 도로망 v/c 비율 · 평균 지체 · LOS 자동 산출 및 네트워크 시각화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8200" y="50211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200" y="48483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대중교통 노선·배차 간격 최적화 시뮬레이션 시나리오 구현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200" y="58029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200" y="5630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교통대책 검토 결과 자동 PDF 보고서 생성 (LH 업무 연계)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6800" y="6224400"/>
            <a:ext cx="3639600" cy="136800"/>
          </a:xfrm>
          <a:prstGeom prst="rect">
            <a:avLst/>
          </a:prstGeom>
          <a:solidFill>
            <a:srgbClr val="DBE9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800" y="62244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4ED8"/>
                </a:solidFill>
              </a:rPr>
              <a:t>▲ 3기 신도시 6곳 직결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8800" y="1065600"/>
            <a:ext cx="3798000" cy="5353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0000" y="1036800"/>
            <a:ext cx="3798000" cy="5353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0000" y="1036800"/>
            <a:ext cx="3798000" cy="158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20000" y="1195200"/>
            <a:ext cx="3798000" cy="64800"/>
          </a:xfrm>
          <a:prstGeom prst="rect">
            <a:avLst/>
          </a:prstGeom>
          <a:solidFill>
            <a:srgbClr val="CC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08399" y="10224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08399" y="10224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891B2"/>
                </a:solidFill>
              </a:rPr>
              <a:t>재개발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0800" y="12240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구도심 재개발·재건축 시나리오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20800" y="14976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62200" y="18939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43200" y="1721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재개발·재건축·리모델링 사업 구역 교통영향평가 프로세스 자동화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62200" y="26757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43200" y="25029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사업 전/후 도로 용량 · 교차로 LOS · 대기행렬 Before/After 비교 분석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62200" y="34575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43200" y="3284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보행 동선 · 자전거 인프라 · 교통약자 접근성 시뮬레이션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62200" y="42393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43200" y="40665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주차 수요 분석 및 공영주차장 최적 위치 선정 알고리즘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62200" y="50211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43200" y="48483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상업·업무·주거 복합 시설 유발 교통량 원단위법 추정 모델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62200" y="58029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43200" y="5630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A/B 화면 분할 동기 재생 비교 대시보드 (KPI 6종 나란히 표시)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20800" y="6224400"/>
            <a:ext cx="3639600" cy="136800"/>
          </a:xfrm>
          <a:prstGeom prst="rect">
            <a:avLst/>
          </a:prstGeom>
          <a:solidFill>
            <a:srgbClr val="CCF0F8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20800" y="62244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91B2"/>
                </a:solidFill>
              </a:rPr>
              <a:t>▲ A/B 비교 완전 지원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2799" y="1065600"/>
            <a:ext cx="3798000" cy="5353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43999" y="1036800"/>
            <a:ext cx="3798000" cy="5353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43999" y="1036800"/>
            <a:ext cx="3798000" cy="158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43999" y="1195200"/>
            <a:ext cx="3798000" cy="648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732400" y="10224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732400" y="10224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59669"/>
                </a:solidFill>
              </a:rPr>
              <a:t>노후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44800" y="12240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노후계획도시 재정비 시나리오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44800" y="14976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86199" y="18939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67200" y="1721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노후계획도시 정비 특별법 기반 1기 신도시(분당·일산·평촌·산본·중동) 시나리오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86199" y="26757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67200" y="25029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노후 교차로 LOS 개선 및 신호 재설계 최적화 시뮬레이션 구현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86199" y="34575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67200" y="3284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간선버스 노선 재편 · 환승센터 신설 교통 개선 효과 정량 분석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86199" y="42393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67200" y="40665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보행로 · 자전거도로 정비에 따른 수단 전환 효과 시뮬레이션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86199" y="50211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67200" y="48483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단계별(1·2·3단계) 정비 효과 시계열 시각화 및 누적 KPI 표시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86199" y="58029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67200" y="5630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LH · 지자체 협업 실증 데이터 수집 · 품질 관리 체계 구축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44800" y="6224400"/>
            <a:ext cx="3639600" cy="1368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44800" y="62244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▲ LH 실증 연계</a:t>
            </a:r>
          </a:p>
        </p:txBody>
      </p:sp>
      <p:sp>
        <p:nvSpPr>
          <p:cNvPr id="83" name="Can 82"/>
          <p:cNvSpPr/>
          <p:nvPr/>
        </p:nvSpPr>
        <p:spPr>
          <a:xfrm>
            <a:off x="4222800" y="3634200"/>
            <a:ext cx="93600" cy="158400"/>
          </a:xfrm>
          <a:prstGeom prst="ca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an 83"/>
          <p:cNvSpPr/>
          <p:nvPr/>
        </p:nvSpPr>
        <p:spPr>
          <a:xfrm>
            <a:off x="8146800" y="3634200"/>
            <a:ext cx="93600" cy="158400"/>
          </a:xfrm>
          <a:prstGeom prst="ca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0" y="6418800"/>
            <a:ext cx="12193200" cy="3455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0" y="64188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96000" y="6548400"/>
            <a:ext cx="57600" cy="57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96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3종 시나리오 완전 구현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964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196400" y="6548400"/>
            <a:ext cx="57600" cy="57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900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LH 협력 교통대책 자동화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968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996800" y="6548400"/>
            <a:ext cx="57600" cy="57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904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A/B 비교 분석 지원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764400"/>
            <a:ext cx="12193200" cy="93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0" y="67644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296000" cy="266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93600"/>
            <a:ext cx="1195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세부과제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3199" y="1368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</a:rPr>
              <a:t>광역권 AI 모빌리티 시뮬레이션 플랫폼  ·  3차년도 연구계획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7199" y="4248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200" b="1" i="0">
                <a:solidFill>
                  <a:srgbClr val="E2E8F0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482400"/>
            <a:ext cx="9961200" cy="34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426"/>
                </a:solidFill>
              </a:rPr>
              <a:t>교통계획 평가 시뮬레이션 완성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827999"/>
            <a:ext cx="9961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SUMO·VISSIM 완전 연동  ·  다중 데이터 소스 Import  ·  모듈 간 REST API 표준화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1015200"/>
            <a:ext cx="1260000" cy="25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9200" y="1015200"/>
            <a:ext cx="432000" cy="25200"/>
          </a:xfrm>
          <a:prstGeom prst="rect">
            <a:avLst/>
          </a:prstGeom>
          <a:solidFill>
            <a:srgbClr val="55E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4400" y="1015200"/>
            <a:ext cx="198000" cy="25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800" y="1065600"/>
            <a:ext cx="3798000" cy="51084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6000" y="1036800"/>
            <a:ext cx="3798000" cy="51084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000" y="1036800"/>
            <a:ext cx="3798000" cy="158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6000" y="1195200"/>
            <a:ext cx="3798000" cy="648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84400" y="10224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4400" y="10224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</a:rPr>
              <a:t>SIM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800" y="12240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시뮬레이터 데이터 연동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800" y="14976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200" y="18735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200" y="1700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SUMO 0.32+ · VISSIM COM API 완전 연동 구현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8200" y="26145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200" y="2441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OSM · 국가교통DB · KTDB 자동 Import 엔진 완성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8200" y="33555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200" y="3182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WGS84 ↔ EPSG:5186 좌표계 자동 변환 처리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8200" y="40965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200" y="3923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네트워크 위상 정제 (dangling edge · isolated node 제거)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8200" y="48375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200" y="4664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Import 후 오류 자동 감지 및 사전 검증 체크 모듈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200" y="55785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200" y="5405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시뮬레이션 파라미터 프리셋 저장·불러오기 기능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6800" y="5979600"/>
            <a:ext cx="3639600" cy="136800"/>
          </a:xfrm>
          <a:prstGeom prst="rect">
            <a:avLst/>
          </a:prstGeom>
          <a:solidFill>
            <a:srgbClr val="DBE9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800" y="59796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4ED8"/>
                </a:solidFill>
              </a:rPr>
              <a:t>▲ Import 작업 80% 단축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8800" y="1065600"/>
            <a:ext cx="3798000" cy="51084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0000" y="1036800"/>
            <a:ext cx="3798000" cy="51084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0000" y="1036800"/>
            <a:ext cx="3798000" cy="158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20000" y="1195200"/>
            <a:ext cx="3798000" cy="64800"/>
          </a:xfrm>
          <a:prstGeom prst="rect">
            <a:avLst/>
          </a:prstGeom>
          <a:solidFill>
            <a:srgbClr val="CC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08399" y="10224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08399" y="10224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891B2"/>
                </a:solidFill>
              </a:rPr>
              <a:t>교통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0800" y="12240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교통 시뮬레이션 구현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20800" y="14976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62200" y="18735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43200" y="1700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차로별 교통량 · 속도 실시간 CZML 3D 애니메이션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62200" y="26145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43200" y="2441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차종별 거동 모델 (승용/화물/버스/자전거/보행자 5종)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62200" y="33555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43200" y="3182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교통신호 현시 편집 및 SUMO 신호 연동 최적화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62200" y="40965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43200" y="3923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OD 행렬 기반 교통수요 시뮬레이션 자동 적용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62200" y="48375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43200" y="4664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대중교통 노선·정류장·배차 간격 편집 완전 구현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62200" y="55785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43200" y="5405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돌발 상황(사고·공사 구간) 이벤트 시뮬레이션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20800" y="5979600"/>
            <a:ext cx="3639600" cy="136800"/>
          </a:xfrm>
          <a:prstGeom prst="rect">
            <a:avLst/>
          </a:prstGeom>
          <a:solidFill>
            <a:srgbClr val="CCF0F8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20800" y="59796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91B2"/>
                </a:solidFill>
              </a:rPr>
              <a:t>▲ 5종 차종 완전 구현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2799" y="1065600"/>
            <a:ext cx="3798000" cy="51084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43999" y="1036800"/>
            <a:ext cx="3798000" cy="51084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43999" y="1036800"/>
            <a:ext cx="3798000" cy="158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43999" y="1195200"/>
            <a:ext cx="3798000" cy="648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732400" y="10224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732400" y="10224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</a:rPr>
              <a:t>API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44800" y="12240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모듈 간 인터페이스 · API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44800" y="14976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86199" y="18735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67200" y="1700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REST API 표준 규격 OpenAPI 3.0 완전 문서화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86199" y="26145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67200" y="2441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도시계획 레이어 데이터 → 시뮬레이션 입력 자동 변환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86199" y="33555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67200" y="3182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수요예측 결과 → SUMO OD 행렬 연계 파이프라인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86199" y="40965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67200" y="3923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시나리오별 결과 DB 저장 · 버전 관리 시스템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86199" y="48375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67200" y="4664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WebSocket 실시간 시뮬레이션 진행 스트리밍 구현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86199" y="55785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67200" y="5405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MSA 마이크로서비스 기반 통합 플랫폼 아키텍처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44800" y="5979600"/>
            <a:ext cx="3639600" cy="13680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44800" y="59796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C3AED"/>
                </a:solidFill>
              </a:rPr>
              <a:t>▲ 3개 모듈 완전 통합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6000" y="6181200"/>
            <a:ext cx="2258640" cy="216000"/>
          </a:xfrm>
          <a:prstGeom prst="rect">
            <a:avLst/>
          </a:prstGeom>
          <a:solidFill>
            <a:srgbClr val="DBE9FE"/>
          </a:solidFill>
          <a:ln w="889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96000" y="6181200"/>
            <a:ext cx="2258640" cy="50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4800" y="6238800"/>
            <a:ext cx="220824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4ED8"/>
                </a:solidFill>
              </a:rPr>
              <a:t>① 원본 데이터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4800" y="6310800"/>
            <a:ext cx="220824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OSM / KTDB / VISSIM</a:t>
            </a:r>
          </a:p>
        </p:txBody>
      </p:sp>
      <p:sp>
        <p:nvSpPr>
          <p:cNvPr id="87" name="Can 86"/>
          <p:cNvSpPr/>
          <p:nvPr/>
        </p:nvSpPr>
        <p:spPr>
          <a:xfrm>
            <a:off x="2597040" y="6238800"/>
            <a:ext cx="79200" cy="100800"/>
          </a:xfrm>
          <a:prstGeom prst="can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76239" y="6181200"/>
            <a:ext cx="2258640" cy="216000"/>
          </a:xfrm>
          <a:prstGeom prst="rect">
            <a:avLst/>
          </a:prstGeom>
          <a:solidFill>
            <a:srgbClr val="CCF0F8"/>
          </a:solidFill>
          <a:ln w="889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76239" y="6181200"/>
            <a:ext cx="2258640" cy="50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05039" y="6238800"/>
            <a:ext cx="220824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891B2"/>
                </a:solidFill>
              </a:rPr>
              <a:t>② 속성 매핑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05039" y="6310800"/>
            <a:ext cx="220824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자동 변환 엔진</a:t>
            </a:r>
          </a:p>
        </p:txBody>
      </p:sp>
      <p:sp>
        <p:nvSpPr>
          <p:cNvPr id="92" name="Can 91"/>
          <p:cNvSpPr/>
          <p:nvPr/>
        </p:nvSpPr>
        <p:spPr>
          <a:xfrm>
            <a:off x="4877279" y="6238800"/>
            <a:ext cx="79200" cy="100800"/>
          </a:xfrm>
          <a:prstGeom prst="can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956480" y="6181200"/>
            <a:ext cx="2258640" cy="216000"/>
          </a:xfrm>
          <a:prstGeom prst="rect">
            <a:avLst/>
          </a:prstGeom>
          <a:solidFill>
            <a:srgbClr val="D1FAE5"/>
          </a:solidFill>
          <a:ln w="889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956480" y="6181200"/>
            <a:ext cx="2258640" cy="50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985280" y="6238800"/>
            <a:ext cx="220824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9669"/>
                </a:solidFill>
              </a:rPr>
              <a:t>③ 위상 정제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85280" y="6310800"/>
            <a:ext cx="220824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오류 자동 제거</a:t>
            </a:r>
          </a:p>
        </p:txBody>
      </p:sp>
      <p:sp>
        <p:nvSpPr>
          <p:cNvPr id="97" name="Can 96"/>
          <p:cNvSpPr/>
          <p:nvPr/>
        </p:nvSpPr>
        <p:spPr>
          <a:xfrm>
            <a:off x="7157519" y="6238800"/>
            <a:ext cx="79200" cy="100800"/>
          </a:xfrm>
          <a:prstGeom prst="can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236720" y="6181200"/>
            <a:ext cx="2258640" cy="216000"/>
          </a:xfrm>
          <a:prstGeom prst="rect">
            <a:avLst/>
          </a:prstGeom>
          <a:solidFill>
            <a:srgbClr val="FEF3C7"/>
          </a:solidFill>
          <a:ln w="889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236720" y="6181200"/>
            <a:ext cx="2258640" cy="50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265519" y="6238800"/>
            <a:ext cx="220824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④ 시뮬레이션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65519" y="6310800"/>
            <a:ext cx="220824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SUMO 실행·검증</a:t>
            </a:r>
          </a:p>
        </p:txBody>
      </p:sp>
      <p:sp>
        <p:nvSpPr>
          <p:cNvPr id="102" name="Can 101"/>
          <p:cNvSpPr/>
          <p:nvPr/>
        </p:nvSpPr>
        <p:spPr>
          <a:xfrm>
            <a:off x="9437760" y="6238800"/>
            <a:ext cx="79200" cy="100800"/>
          </a:xfrm>
          <a:prstGeom prst="ca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516960" y="6181200"/>
            <a:ext cx="2258640" cy="216000"/>
          </a:xfrm>
          <a:prstGeom prst="rect">
            <a:avLst/>
          </a:prstGeom>
          <a:solidFill>
            <a:srgbClr val="EDE9FE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516960" y="6181200"/>
            <a:ext cx="2258640" cy="5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45760" y="6238800"/>
            <a:ext cx="220824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C3AED"/>
                </a:solidFill>
              </a:rPr>
              <a:t>⑤ 결과 저장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45760" y="6310800"/>
            <a:ext cx="220824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DB 저장·API 제공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18800"/>
            <a:ext cx="12193200" cy="3455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0" y="6418800"/>
            <a:ext cx="12193200" cy="2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96000" y="6548400"/>
            <a:ext cx="57600" cy="57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896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Import 80% 단축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964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196400" y="6548400"/>
            <a:ext cx="57600" cy="57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2900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5종 차종 완전 구현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9968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996800" y="6548400"/>
            <a:ext cx="57600" cy="57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904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3개 모듈 통합 완성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0" y="6764400"/>
            <a:ext cx="12193200" cy="93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67644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296000" cy="266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93600"/>
            <a:ext cx="1195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세부과제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3199" y="1368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</a:rPr>
              <a:t>광역권 AI 모빌리티 시뮬레이션 플랫폼  ·  3차년도 연구계획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7199" y="4248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200" b="1" i="0">
                <a:solidFill>
                  <a:srgbClr val="E2E8F0"/>
                </a:solidFill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482400"/>
            <a:ext cx="9961200" cy="34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426"/>
                </a:solidFill>
              </a:rPr>
              <a:t>교통 분석 고도화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827999"/>
            <a:ext cx="9961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HCM 6판 교차로 LOS  ·  구간 속도 프로파일  ·  MOVES 탄소배출  ·  A/B 시나리오 비교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1015200"/>
            <a:ext cx="1260000" cy="25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9200" y="1015200"/>
            <a:ext cx="432000" cy="25200"/>
          </a:xfrm>
          <a:prstGeom prst="rect">
            <a:avLst/>
          </a:prstGeom>
          <a:solidFill>
            <a:srgbClr val="58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4400" y="1015200"/>
            <a:ext cx="198000" cy="25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000" y="1036800"/>
            <a:ext cx="1882200" cy="22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6000" y="1051200"/>
            <a:ext cx="18822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" y="1152000"/>
            <a:ext cx="188220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매우 원활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" y="1216800"/>
            <a:ext cx="1882200" cy="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FFFFFF"/>
                </a:solidFill>
              </a:rPr>
              <a:t>v/c ≤ 0.60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96200" y="1036800"/>
            <a:ext cx="1882200" cy="223200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96200" y="1051200"/>
            <a:ext cx="18822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6200" y="1152000"/>
            <a:ext cx="188220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원활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96200" y="1216800"/>
            <a:ext cx="1882200" cy="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FFFFFF"/>
                </a:solidFill>
              </a:rPr>
              <a:t>v/c ≤ 0.70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6400" y="1036800"/>
            <a:ext cx="1882200" cy="22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96400" y="1051200"/>
            <a:ext cx="18822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6400" y="1152000"/>
            <a:ext cx="188220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보통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96400" y="1216800"/>
            <a:ext cx="1882200" cy="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FFFFFF"/>
                </a:solidFill>
              </a:rPr>
              <a:t>v/c ≤ 0.80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600" y="1036800"/>
            <a:ext cx="1882200" cy="223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600" y="1051200"/>
            <a:ext cx="18822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600" y="1152000"/>
            <a:ext cx="188220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지체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600" y="1216800"/>
            <a:ext cx="1882200" cy="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FFFFFF"/>
                </a:solidFill>
              </a:rPr>
              <a:t>v/c ≤ 0.90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6800" y="1036800"/>
            <a:ext cx="1882200" cy="22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6800" y="1051200"/>
            <a:ext cx="18822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6800" y="1152000"/>
            <a:ext cx="188220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심한지체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96800" y="1216800"/>
            <a:ext cx="1882200" cy="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FFFFFF"/>
                </a:solidFill>
              </a:rPr>
              <a:t>v/c ≤ 1.00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7000" y="1036800"/>
            <a:ext cx="1882200" cy="2232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97000" y="1051200"/>
            <a:ext cx="18822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97000" y="1152000"/>
            <a:ext cx="188220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교통 마비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7000" y="1216800"/>
            <a:ext cx="1882200" cy="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FFFFFF"/>
                </a:solidFill>
              </a:rPr>
              <a:t>v/c &gt; 1.00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4800" y="1310400"/>
            <a:ext cx="3798000" cy="51228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6000" y="1281600"/>
            <a:ext cx="3798000" cy="51228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6000" y="1281600"/>
            <a:ext cx="3798000" cy="158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6000" y="1440000"/>
            <a:ext cx="3798000" cy="648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884400" y="12672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84400" y="12672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</a:rPr>
              <a:t>LOS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6800" y="14688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교차로 성능 분석 (LOS)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6800" y="17424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8200" y="21195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200" y="1946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HCM 6판 기준 교차로 서비스 수준 A~F 자동 산출 엔진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8200" y="28629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200" y="2690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포화도(v/c ratio) · 평균 지체(초/대) · 대기행렬 실시간 계산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8200" y="36063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9200" y="34335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현시별 포화교통류율 · 적정 현시율 자동 분석 및 제안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8200" y="43497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200" y="41769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차로별 LOS 히트맵 · 교차로 형태별(평면/회전) 비교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8200" y="50931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9200" y="49203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HCM 기준 개선 전/후 LOS 변화 시뮬레이션 비교 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8200" y="58365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9200" y="5663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신호 최적화 알고리즘 기반 최적 현시 구성 자동 제안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6800" y="6238800"/>
            <a:ext cx="3639600" cy="136800"/>
          </a:xfrm>
          <a:prstGeom prst="rect">
            <a:avLst/>
          </a:prstGeom>
          <a:solidFill>
            <a:srgbClr val="DBE9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6800" y="62388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4ED8"/>
                </a:solidFill>
              </a:rPr>
              <a:t>▲ A~F 자동 판정 완성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8800" y="1310400"/>
            <a:ext cx="3798000" cy="51228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20000" y="1281600"/>
            <a:ext cx="3798000" cy="51228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20000" y="1281600"/>
            <a:ext cx="3798000" cy="158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20000" y="1440000"/>
            <a:ext cx="3798000" cy="648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808399" y="12672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08399" y="12672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59669"/>
                </a:solidFill>
              </a:rPr>
              <a:t>SPD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20800" y="14688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구간 속도 프로파일 분석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20800" y="17424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62200" y="21195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43200" y="1946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5분 단위 시간대별 구간 속도 시계열 프로파일 생성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62200" y="28629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43200" y="2690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Peak · Off-peak 자동 구분 및 혼잡 패턴 분석 리포트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62200" y="36063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43200" y="34335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FCD 실측 데이터 vs 시뮬레이션 결과 정합성 비교 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62200" y="43497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43200" y="41769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링크별 속도 이상치(anomaly) 자동 감지 알림 시스템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462200" y="50931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43200" y="49203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네트워크 전체 속도 히트맵 시각화 (레이어 오버레이)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62200" y="5836500"/>
            <a:ext cx="32400" cy="32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43200" y="5663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Recharts 기반 인터랙티브 속도 대시보드 연동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20800" y="6238800"/>
            <a:ext cx="3639600" cy="13680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20800" y="62388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▲ 이상치 자동 감지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72799" y="1310400"/>
            <a:ext cx="3798000" cy="51228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43999" y="1281600"/>
            <a:ext cx="3798000" cy="51228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43999" y="1281600"/>
            <a:ext cx="3798000" cy="158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243999" y="1440000"/>
            <a:ext cx="3798000" cy="64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732400" y="12672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732400" y="12672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CO₂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44800" y="14688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탄소배출 추정 · A/B 비교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344800" y="17424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6199" y="2119500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67200" y="1946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MOVES 2014b 배출계수 기반 CO₂ 산출 엔진 완전 구현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86199" y="2862900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67200" y="2690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차종별 CO₂ · NOx · PM2.5 · HC 4종 배출량 정량화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386199" y="3606300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67200" y="34335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시나리오별 온실가스 감축 효과 및 탄소 크레딧 산정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86199" y="4349700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467200" y="41769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화면 분할 A/B 시나리오 동기 재생 비교 뷰어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386199" y="5093100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67200" y="49203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KPI 6종(교통량/속도/LOS/CO₂/NOx/PM2.5) 나란히 비교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386199" y="5836500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467200" y="5663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탄소 저감 최적 시나리오 자동 추천 알고리즘 구현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344800" y="6238800"/>
            <a:ext cx="3639600" cy="136800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44800" y="62388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97706"/>
                </a:solidFill>
              </a:rPr>
              <a:t>▲ 3종 배출 자동 산출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18800"/>
            <a:ext cx="12193200" cy="3455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0" y="6418800"/>
            <a:ext cx="12193200" cy="21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96000" y="6548400"/>
            <a:ext cx="57600" cy="57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896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교차로 운영 효율 15% 향상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964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196400" y="6548400"/>
            <a:ext cx="57600" cy="57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2900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탄소 저감 정량화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9968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996800" y="6548400"/>
            <a:ext cx="57600" cy="57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904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최적 시나리오 자동 추천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0" y="6764400"/>
            <a:ext cx="12193200" cy="93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67644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296000" cy="26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93600"/>
            <a:ext cx="1195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세부과제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3199" y="1368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</a:rPr>
              <a:t>광역권 AI 모빌리티 시뮬레이션 플랫폼  ·  3차년도 연구계획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7199" y="4248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200" b="1" i="0">
                <a:solidFill>
                  <a:srgbClr val="E2E8F0"/>
                </a:solidFill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482400"/>
            <a:ext cx="9961200" cy="34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426"/>
                </a:solidFill>
              </a:rPr>
              <a:t>교통 분석 대시보드 구현 현황 및 3차년도 고도화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827999"/>
            <a:ext cx="9961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실시간 KPI 6종 · 혼잡도 5단계 · 시계열 차트 · A/B 비교 · 탄소배출 분석 완성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1015200"/>
            <a:ext cx="1260000" cy="25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9200" y="1015200"/>
            <a:ext cx="432000" cy="25200"/>
          </a:xfrm>
          <a:prstGeom prst="rect">
            <a:avLst/>
          </a:prstGeom>
          <a:solidFill>
            <a:srgbClr val="FFC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4400" y="1015200"/>
            <a:ext cx="198000" cy="25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1036800"/>
            <a:ext cx="3456000" cy="1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1072800"/>
            <a:ext cx="3456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</a:rPr>
              <a:t>2차년도 구현 완성 현황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400" y="1542375"/>
            <a:ext cx="39600" cy="39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000" y="1414575"/>
            <a:ext cx="3333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KPI 카드 5종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000" y="1572975"/>
            <a:ext cx="33336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활성 차량·도로 링크·편집 수·재생 속도·시뮬레이션 상태 실시간 표시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400" y="2189925"/>
            <a:ext cx="39600" cy="39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2062125"/>
            <a:ext cx="3333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실시간 진행률 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" y="2220525"/>
            <a:ext cx="33336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시뮬레이션 진행 % · 글로우 애니메이션 도트 실시간 표시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3400" y="2837475"/>
            <a:ext cx="39600" cy="39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00" y="2709675"/>
            <a:ext cx="3333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탭 UI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" y="2868075"/>
            <a:ext cx="33336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편집 이력 탭 ↔ 교통량 분석 탭 간 즉시 전환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3400" y="3485025"/>
            <a:ext cx="39600" cy="39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3357225"/>
            <a:ext cx="3333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Live 현황 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" y="3515625"/>
            <a:ext cx="33336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현재 시각 · 교통량 · 평균 속도 · 혼잡도 텍스트 실시간 표시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3400" y="4132575"/>
            <a:ext cx="39600" cy="39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" y="4004775"/>
            <a:ext cx="3333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혼잡도 5단계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000" y="4163175"/>
            <a:ext cx="33336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심한 정체·정체·서행·원활·매우 원활 색상 인디케이터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3400" y="4780125"/>
            <a:ext cx="39600" cy="39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000" y="4652325"/>
            <a:ext cx="3333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분석 KPI 6종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000" y="4810725"/>
            <a:ext cx="33336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총 차량·여행 시간·평균 속도·피크량·이동 거리·CO₂ 자동 산출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3400" y="5427675"/>
            <a:ext cx="39600" cy="39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000" y="5299875"/>
            <a:ext cx="3333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시계열 차트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000" y="5458275"/>
            <a:ext cx="33336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교통량(막대)+속도(꺾은선)+현재 시각 수직선 실시간 표시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3400" y="6075225"/>
            <a:ext cx="39600" cy="39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000" y="5947425"/>
            <a:ext cx="33336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분포 차트 2종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000" y="6105825"/>
            <a:ext cx="33336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차량 유형 분포 + 속도 구간별 분포 막대 차트 완성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4399" y="1065600"/>
            <a:ext cx="4536000" cy="5382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45599" y="1036800"/>
            <a:ext cx="4536000" cy="5382000"/>
          </a:xfrm>
          <a:prstGeom prst="rect">
            <a:avLst/>
          </a:prstGeom>
          <a:solidFill>
            <a:srgbClr val="0C1018"/>
          </a:solidFill>
          <a:ln w="10160">
            <a:solidFill>
              <a:srgbClr val="2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45599" y="1036800"/>
            <a:ext cx="4536000" cy="259200"/>
          </a:xfrm>
          <a:prstGeom prst="rect">
            <a:avLst/>
          </a:prstGeom>
          <a:solidFill>
            <a:srgbClr val="07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945599" y="1295999"/>
            <a:ext cx="4536000" cy="1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31999" y="1094400"/>
            <a:ext cx="263087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0E8F8"/>
                </a:solidFill>
              </a:rPr>
              <a:t>교통 시뮬레이션 대시보드  v3.0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0400" y="1094400"/>
            <a:ext cx="195048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0B981"/>
                </a:solidFill>
              </a:rPr>
              <a:t>● 실행 중  07:28  |  62% 진행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81599" y="1332000"/>
            <a:ext cx="878400" cy="4320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81599" y="1332000"/>
            <a:ext cx="878400" cy="360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81599" y="1382400"/>
            <a:ext cx="878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3A4A6A"/>
                </a:solidFill>
              </a:rPr>
              <a:t>활성 차량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1599" y="1497600"/>
            <a:ext cx="8784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8F8"/>
                </a:solidFill>
              </a:rPr>
              <a:t>1,284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74400" y="1332000"/>
            <a:ext cx="878400" cy="4320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74400" y="1332000"/>
            <a:ext cx="8784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74400" y="1382400"/>
            <a:ext cx="878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3A4A6A"/>
                </a:solidFill>
              </a:rPr>
              <a:t>도로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74400" y="1497600"/>
            <a:ext cx="8784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8F8"/>
                </a:solidFill>
              </a:rPr>
              <a:t>892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7200" y="1332000"/>
            <a:ext cx="878400" cy="4320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67200" y="1332000"/>
            <a:ext cx="878400" cy="3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7200" y="1382400"/>
            <a:ext cx="878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3A4A6A"/>
                </a:solidFill>
              </a:rPr>
              <a:t>편집 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7200" y="1497600"/>
            <a:ext cx="8784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8F8"/>
                </a:solidFill>
              </a:rPr>
              <a:t>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60000" y="1332000"/>
            <a:ext cx="878400" cy="4320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60000" y="1332000"/>
            <a:ext cx="878400" cy="3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60000" y="1382400"/>
            <a:ext cx="878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3A4A6A"/>
                </a:solidFill>
              </a:rPr>
              <a:t>재생 속도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60000" y="1497600"/>
            <a:ext cx="8784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8F8"/>
                </a:solidFill>
              </a:rPr>
              <a:t>3×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52799" y="1332000"/>
            <a:ext cx="878400" cy="4320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552799" y="1332000"/>
            <a:ext cx="878400" cy="3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799" y="1382400"/>
            <a:ext cx="8784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3A4A6A"/>
                </a:solidFill>
              </a:rPr>
              <a:t>상태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52799" y="1497600"/>
            <a:ext cx="8784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8F8"/>
                </a:solidFill>
              </a:rPr>
              <a:t>실행중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81599" y="1800000"/>
            <a:ext cx="4464000" cy="6480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981599" y="1800000"/>
            <a:ext cx="2767680" cy="64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981599" y="1893600"/>
            <a:ext cx="4464000" cy="122400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981599" y="1893600"/>
            <a:ext cx="1116000" cy="122400"/>
          </a:xfrm>
          <a:prstGeom prst="rect">
            <a:avLst/>
          </a:prstGeom>
          <a:solidFill>
            <a:srgbClr val="16203A"/>
          </a:solidFill>
          <a:ln w="25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17599" y="1900800"/>
            <a:ext cx="1044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교통량 분석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69599" y="1900800"/>
            <a:ext cx="1044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A4A6A"/>
                </a:solidFill>
              </a:rPr>
              <a:t>편집 이력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21600" y="1900800"/>
            <a:ext cx="1044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3A4A6A"/>
                </a:solidFill>
              </a:rPr>
              <a:t>A/B 비교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81599" y="2044800"/>
            <a:ext cx="4464000" cy="187200"/>
          </a:xfrm>
          <a:prstGeom prst="rect">
            <a:avLst/>
          </a:prstGeom>
          <a:solidFill>
            <a:srgbClr val="0E1E1E"/>
          </a:solidFill>
          <a:ln w="381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006799" y="2106000"/>
            <a:ext cx="64800" cy="64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1200" y="2059200"/>
            <a:ext cx="432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0E8F8"/>
                </a:solidFill>
              </a:rPr>
              <a:t>LIVE  07:28  |  교통량 1,284대  |  평균 속도 47.3 km/h  |  혼잡도: 서행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81599" y="2260800"/>
            <a:ext cx="878400" cy="57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874400" y="2260800"/>
            <a:ext cx="878400" cy="57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767200" y="2260800"/>
            <a:ext cx="878400" cy="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660000" y="2260800"/>
            <a:ext cx="878400" cy="57600"/>
          </a:xfrm>
          <a:prstGeom prst="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52799" y="2260800"/>
            <a:ext cx="878400" cy="57600"/>
          </a:xfrm>
          <a:prstGeom prst="rect">
            <a:avLst/>
          </a:prstGeom>
          <a:solidFill>
            <a:srgbClr val="1A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981599" y="2347200"/>
            <a:ext cx="729600" cy="3816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981599" y="2347200"/>
            <a:ext cx="729600" cy="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81599" y="2383200"/>
            <a:ext cx="7296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A4A6A"/>
                </a:solidFill>
              </a:rPr>
              <a:t>총 차량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81599" y="2498400"/>
            <a:ext cx="7296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E8F8"/>
                </a:solidFill>
              </a:rPr>
              <a:t>4,201대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25599" y="2347200"/>
            <a:ext cx="729600" cy="3816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725599" y="2347200"/>
            <a:ext cx="729600" cy="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25599" y="2383200"/>
            <a:ext cx="7296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A4A6A"/>
                </a:solidFill>
              </a:rPr>
              <a:t>여행 시간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25599" y="2498400"/>
            <a:ext cx="7296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E8F8"/>
                </a:solidFill>
              </a:rPr>
              <a:t>8.2분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69599" y="2347200"/>
            <a:ext cx="729600" cy="3816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469599" y="2347200"/>
            <a:ext cx="729600" cy="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69599" y="2383200"/>
            <a:ext cx="7296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A4A6A"/>
                </a:solidFill>
              </a:rPr>
              <a:t>평균 속도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69599" y="2498400"/>
            <a:ext cx="7296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E8F8"/>
                </a:solidFill>
              </a:rPr>
              <a:t>51.3km/h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13599" y="2347200"/>
            <a:ext cx="729600" cy="3816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213599" y="2347200"/>
            <a:ext cx="729600" cy="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13599" y="2383200"/>
            <a:ext cx="7296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A4A6A"/>
                </a:solidFill>
              </a:rPr>
              <a:t>피크 교통량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13599" y="2498400"/>
            <a:ext cx="7296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E8F8"/>
                </a:solidFill>
              </a:rPr>
              <a:t>1,892대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957600" y="2347200"/>
            <a:ext cx="729600" cy="3816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957600" y="2347200"/>
            <a:ext cx="729600" cy="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57600" y="2383200"/>
            <a:ext cx="7296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A4A6A"/>
                </a:solidFill>
              </a:rPr>
              <a:t>이동 거리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57600" y="2498400"/>
            <a:ext cx="7296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E8F8"/>
                </a:solidFill>
              </a:rPr>
              <a:t>28.4km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701599" y="2347200"/>
            <a:ext cx="729600" cy="3816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701599" y="2347200"/>
            <a:ext cx="729600" cy="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701599" y="2383200"/>
            <a:ext cx="7296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3A4A6A"/>
                </a:solidFill>
              </a:rPr>
              <a:t>CO₂ 배출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01599" y="2498400"/>
            <a:ext cx="7296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0E8F8"/>
                </a:solidFill>
              </a:rPr>
              <a:t>3.4t/h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981599" y="2764800"/>
            <a:ext cx="2700000" cy="36324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024800" y="2793600"/>
            <a:ext cx="2628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A88AA"/>
                </a:solidFill>
              </a:rPr>
              <a:t>시간대별 교통량 · 속도 분석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996000" y="5316120"/>
            <a:ext cx="212400" cy="1037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215600" y="4762584"/>
            <a:ext cx="212400" cy="15914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435200" y="4070664"/>
            <a:ext cx="212400" cy="2283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654800" y="3378744"/>
            <a:ext cx="212400" cy="297525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874400" y="2894400"/>
            <a:ext cx="212400" cy="3459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093999" y="3586320"/>
            <a:ext cx="212400" cy="2767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313600" y="3863088"/>
            <a:ext cx="212400" cy="2490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533200" y="3171168"/>
            <a:ext cx="212400" cy="31828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752800" y="2894400"/>
            <a:ext cx="212400" cy="3459600"/>
          </a:xfrm>
          <a:prstGeom prst="rect">
            <a:avLst/>
          </a:prstGeom>
          <a:solidFill>
            <a:srgbClr val="1C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972400" y="4347432"/>
            <a:ext cx="212400" cy="2006568"/>
          </a:xfrm>
          <a:prstGeom prst="rect">
            <a:avLst/>
          </a:prstGeom>
          <a:solidFill>
            <a:srgbClr val="1C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192000" y="5039352"/>
            <a:ext cx="212400" cy="1314648"/>
          </a:xfrm>
          <a:prstGeom prst="rect">
            <a:avLst/>
          </a:prstGeom>
          <a:solidFill>
            <a:srgbClr val="1C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411600" y="5316120"/>
            <a:ext cx="212400" cy="1037880"/>
          </a:xfrm>
          <a:prstGeom prst="rect">
            <a:avLst/>
          </a:prstGeom>
          <a:solidFill>
            <a:srgbClr val="1C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745600" y="2908800"/>
            <a:ext cx="14400" cy="3445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666400" y="2793600"/>
            <a:ext cx="324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EF4444"/>
                </a:solidFill>
              </a:rPr>
              <a:t>▲현재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703199" y="2764800"/>
            <a:ext cx="1742400" cy="18054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739200" y="2793600"/>
            <a:ext cx="1692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7A88AA"/>
                </a:solidFill>
              </a:rPr>
              <a:t>차량 유형 분포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39200" y="3091176"/>
            <a:ext cx="403199" cy="14430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156800" y="3845484"/>
            <a:ext cx="403199" cy="6887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574400" y="4173444"/>
            <a:ext cx="403199" cy="3607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992000" y="4337424"/>
            <a:ext cx="403199" cy="1967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703199" y="4591800"/>
            <a:ext cx="1742400" cy="1805400"/>
          </a:xfrm>
          <a:prstGeom prst="rect">
            <a:avLst/>
          </a:prstGeom>
          <a:solidFill>
            <a:srgbClr val="141929"/>
          </a:solidFill>
          <a:ln w="2540">
            <a:solidFill>
              <a:srgbClr val="23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739200" y="4620600"/>
            <a:ext cx="1692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7A88AA"/>
                </a:solidFill>
              </a:rPr>
              <a:t>속도 구간 분포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739200" y="6197219"/>
            <a:ext cx="319679" cy="1639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073280" y="5902055"/>
            <a:ext cx="319679" cy="45914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407360" y="4721399"/>
            <a:ext cx="319679" cy="1639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741439" y="5049359"/>
            <a:ext cx="319679" cy="1311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075519" y="5770871"/>
            <a:ext cx="319679" cy="5903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575200" y="1036800"/>
            <a:ext cx="3517199" cy="1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575200" y="1072800"/>
            <a:ext cx="35171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</a:rPr>
              <a:t>3차년도 고도화 항목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596800" y="1245600"/>
            <a:ext cx="3517199" cy="101592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575200" y="1224000"/>
            <a:ext cx="3517199" cy="10159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575200" y="1224000"/>
            <a:ext cx="3517199" cy="11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575200" y="1224000"/>
            <a:ext cx="72000" cy="1015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8690400" y="1216800"/>
            <a:ext cx="129600" cy="12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690400" y="1216800"/>
            <a:ext cx="1296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</a:rP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877600" y="1238400"/>
            <a:ext cx="3178799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LOS 지표 연동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877600" y="1353600"/>
            <a:ext cx="3178799" cy="8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</a:rPr>
              <a:t>HCM 6판 교차로 LOS A~F 자동 산출</a:t>
            </a:r>
          </a:p>
          <a:p>
            <a:r>
              <a:rPr sz="850">
                <a:solidFill>
                  <a:srgbClr val="475569"/>
                </a:solidFill>
              </a:rPr>
              <a:t>포화도·평균 지체(초/대) 실시간 표시</a:t>
            </a:r>
          </a:p>
          <a:p>
            <a:r>
              <a:rPr sz="850">
                <a:solidFill>
                  <a:srgbClr val="475569"/>
                </a:solidFill>
              </a:rPr>
              <a:t>신호 최적화 개선안 자동 제안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596800" y="2290319"/>
            <a:ext cx="3517199" cy="101592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575200" y="2268720"/>
            <a:ext cx="3517199" cy="10159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575200" y="2268720"/>
            <a:ext cx="3517199" cy="115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575200" y="2268720"/>
            <a:ext cx="72000" cy="101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690400" y="2261520"/>
            <a:ext cx="129600" cy="12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690400" y="2261520"/>
            <a:ext cx="1296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C2626"/>
                </a:solidFill>
              </a:rPr>
              <a:t>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877600" y="2283120"/>
            <a:ext cx="3178799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A/B 시나리오 비교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877600" y="2398320"/>
            <a:ext cx="3178799" cy="8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</a:rPr>
              <a:t>2개 시나리오 화면 분할 동기 재생</a:t>
            </a:r>
          </a:p>
          <a:p>
            <a:r>
              <a:rPr sz="850">
                <a:solidFill>
                  <a:srgbClr val="475569"/>
                </a:solidFill>
              </a:rPr>
              <a:t>KPI 6종 나란히 비교 대시보드</a:t>
            </a:r>
          </a:p>
          <a:p>
            <a:r>
              <a:rPr sz="850">
                <a:solidFill>
                  <a:srgbClr val="475569"/>
                </a:solidFill>
              </a:rPr>
              <a:t>최적 시나리오 자동 추천 기능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596800" y="3335040"/>
            <a:ext cx="3517199" cy="101592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575200" y="3313440"/>
            <a:ext cx="3517199" cy="10159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575200" y="3313440"/>
            <a:ext cx="3517199" cy="115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575200" y="3313440"/>
            <a:ext cx="72000" cy="101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690400" y="3306240"/>
            <a:ext cx="129600" cy="12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690400" y="3306240"/>
            <a:ext cx="1296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877600" y="3327840"/>
            <a:ext cx="3178799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탄소배출 상세 분석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877600" y="3443040"/>
            <a:ext cx="3178799" cy="8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</a:rPr>
              <a:t>MOVES 2014b 차종별 CO₂·NOx·PM2.5</a:t>
            </a:r>
          </a:p>
          <a:p>
            <a:r>
              <a:rPr sz="850">
                <a:solidFill>
                  <a:srgbClr val="475569"/>
                </a:solidFill>
              </a:rPr>
              <a:t>온실가스 감축 효과 비교 분석</a:t>
            </a:r>
          </a:p>
          <a:p>
            <a:r>
              <a:rPr sz="850">
                <a:solidFill>
                  <a:srgbClr val="475569"/>
                </a:solidFill>
              </a:rPr>
              <a:t>탄소 저감 목표 달성률 시각화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596800" y="4379760"/>
            <a:ext cx="3517199" cy="101592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575200" y="4358160"/>
            <a:ext cx="3517199" cy="10159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575200" y="4358160"/>
            <a:ext cx="3517199" cy="115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575200" y="4358160"/>
            <a:ext cx="72000" cy="101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8690400" y="4350960"/>
            <a:ext cx="129600" cy="12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690400" y="4350960"/>
            <a:ext cx="1296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</a:rPr>
              <a:t>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877600" y="4372560"/>
            <a:ext cx="3178799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실시간 WebSocket 스트리밍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877600" y="4487760"/>
            <a:ext cx="3178799" cy="8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</a:rPr>
              <a:t>WebSocket 기반 시뮬레이션 실시간 수신</a:t>
            </a:r>
          </a:p>
          <a:p>
            <a:r>
              <a:rPr sz="850">
                <a:solidFill>
                  <a:srgbClr val="475569"/>
                </a:solidFill>
              </a:rPr>
              <a:t>진행 중 시뮬레이션 모니터링 구현</a:t>
            </a:r>
          </a:p>
          <a:p>
            <a:r>
              <a:rPr sz="850">
                <a:solidFill>
                  <a:srgbClr val="475569"/>
                </a:solidFill>
              </a:rPr>
              <a:t>연결 끊김 자동 재연결 처리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596800" y="5424480"/>
            <a:ext cx="3517199" cy="101592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575200" y="5402880"/>
            <a:ext cx="3517199" cy="10159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8575200" y="5402880"/>
            <a:ext cx="3517199" cy="115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575200" y="5402880"/>
            <a:ext cx="72000" cy="101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8690400" y="5395680"/>
            <a:ext cx="129600" cy="12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690400" y="5395680"/>
            <a:ext cx="129600" cy="1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59669"/>
                </a:solidFill>
              </a:rPr>
              <a:t>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877600" y="5417280"/>
            <a:ext cx="3178799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자동 리포트 생성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877600" y="5532480"/>
            <a:ext cx="3178799" cy="8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75569"/>
                </a:solidFill>
              </a:rPr>
              <a:t>KPI 기반 교통영향평가 PDF 자동 생성</a:t>
            </a:r>
          </a:p>
          <a:p>
            <a:r>
              <a:rPr sz="850">
                <a:solidFill>
                  <a:srgbClr val="475569"/>
                </a:solidFill>
              </a:rPr>
              <a:t>국토부 표준 보고서 포맷 완전 준수</a:t>
            </a:r>
          </a:p>
          <a:p>
            <a:r>
              <a:rPr sz="850">
                <a:solidFill>
                  <a:srgbClr val="475569"/>
                </a:solidFill>
              </a:rPr>
              <a:t>MP4 시뮬레이션 영상 자동 첨부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0" y="6418800"/>
            <a:ext cx="12193200" cy="3455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0" y="6418800"/>
            <a:ext cx="12193200" cy="2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96000" y="6548400"/>
            <a:ext cx="57600" cy="57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896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대시보드 완성도 100%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1964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196400" y="6548400"/>
            <a:ext cx="57600" cy="57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2900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의사결정 근거 시각화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9968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996800" y="6548400"/>
            <a:ext cx="57600" cy="57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0904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비전문가 활용 최적화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0" y="6764400"/>
            <a:ext cx="12193200" cy="93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0" y="67644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296000" cy="266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93600"/>
            <a:ext cx="1195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세부과제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3199" y="1368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</a:rPr>
              <a:t>광역권 AI 모빌리티 시뮬레이션 플랫폼  ·  3차년도 연구계획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7199" y="4248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200" b="1" i="0">
                <a:solidFill>
                  <a:srgbClr val="E2E8F0"/>
                </a:solidFill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482400"/>
            <a:ext cx="9961200" cy="34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426"/>
                </a:solidFill>
              </a:rPr>
              <a:t>플랫폼 완성 및 LH 실증 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827999"/>
            <a:ext cx="9961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교통영향평가 자동화 · LH 3기 신도시 실증 환경 · CRDT 협업 · Docker·K8s 배포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1015200"/>
            <a:ext cx="1260000" cy="25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9200" y="1015200"/>
            <a:ext cx="432000" cy="25200"/>
          </a:xfrm>
          <a:prstGeom prst="rect">
            <a:avLst/>
          </a:prstGeom>
          <a:solidFill>
            <a:srgbClr val="CC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4400" y="1015200"/>
            <a:ext cx="198000" cy="25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800" y="1065600"/>
            <a:ext cx="3798000" cy="5353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6000" y="1036800"/>
            <a:ext cx="3798000" cy="5353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6000" y="1036800"/>
            <a:ext cx="3798000" cy="158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6000" y="1195200"/>
            <a:ext cx="3798000" cy="648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84400" y="10224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4400" y="10224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</a:rPr>
              <a:t>RPT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800" y="12240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자동 리포트 · 영상 내보내기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800" y="14976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200" y="18939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200" y="1721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시뮬레이션 KPI → 교통영향평가 보고서 자동 생성 엔진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8200" y="26757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200" y="25029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국토부 기준 HWP · PDF 표준 포맷 자동 작성 및 구성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8200" y="34575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200" y="3284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Cesium 뷰어 프레임 기반 시뮬레이션 화면 캡처 구현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8200" y="42393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200" y="40665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ffmpeg.wasm MP4 인코딩 — 브라우저 내 영상 변환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8200" y="50211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200" y="48483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개선안 비교표 · KPI 그래프 보고서 자동 삽입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8200" y="580290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200" y="5630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보고서 양식 템플릿 커스터마이징 및 기관별 적용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6800" y="6224400"/>
            <a:ext cx="3639600" cy="136800"/>
          </a:xfrm>
          <a:prstGeom prst="rect">
            <a:avLst/>
          </a:prstGeom>
          <a:solidFill>
            <a:srgbClr val="DBE9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800" y="62244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D4ED8"/>
                </a:solidFill>
              </a:rPr>
              <a:t>▲ 보고서 작성 70% 단축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8800" y="1065600"/>
            <a:ext cx="3798000" cy="5353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0000" y="1036800"/>
            <a:ext cx="3798000" cy="5353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0000" y="1036800"/>
            <a:ext cx="3798000" cy="158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20000" y="1195200"/>
            <a:ext cx="3798000" cy="648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08399" y="10224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08399" y="10224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</a:rPr>
              <a:t>LH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0800" y="12240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LH 실증 환경 구축 준비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20800" y="14976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62200" y="18939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43200" y="1721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3기 신도시 6곳 교통계획 시나리오 사전 구현 완성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62200" y="26757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43200" y="25029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노후계획도시 재정비 시뮬레이션 LH 검토 및 검증 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62200" y="34575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43200" y="3284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LH 도시계획 업무 시스템 API 연계 인터페이스 개발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62200" y="42393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43200" y="40665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LH 담당자 교육 프로그램 · 사용 매뉴얼 수립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62200" y="50211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43200" y="48483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실증 데이터 수집 · 품질 관리 · 보안 체계 구축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62200" y="5802900"/>
            <a:ext cx="32400" cy="3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43200" y="5630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실증 성과 평가 지표 및 KPI 측정 기준 수립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20800" y="6224400"/>
            <a:ext cx="3639600" cy="13680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20800" y="62244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C3AED"/>
                </a:solidFill>
              </a:rPr>
              <a:t>▲ LH 실증 준비 완성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2799" y="1065600"/>
            <a:ext cx="3798000" cy="5353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43999" y="1036800"/>
            <a:ext cx="3798000" cy="5353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43999" y="1036800"/>
            <a:ext cx="3798000" cy="158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43999" y="1195200"/>
            <a:ext cx="3798000" cy="64800"/>
          </a:xfrm>
          <a:prstGeom prst="rect">
            <a:avLst/>
          </a:prstGeom>
          <a:solidFill>
            <a:srgbClr val="CC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732400" y="1022400"/>
            <a:ext cx="187200" cy="18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732400" y="1022400"/>
            <a:ext cx="187200" cy="18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891B2"/>
                </a:solidFill>
              </a:rPr>
              <a:t>DEV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44800" y="1224000"/>
            <a:ext cx="333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426"/>
                </a:solidFill>
              </a:rPr>
              <a:t>협업 · 배포 환경 완성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44800" y="1497600"/>
            <a:ext cx="36396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86199" y="18939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67200" y="1721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CRDT 알고리즘 기반 다중 사용자 실시간 동시 편집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86199" y="26757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67200" y="25029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역할별 권한 관리 3단계 (관리자·편집자·뷰어)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86199" y="34575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67200" y="32847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편집 이력 버전 관리 · 롤백 · 감사 로그 기능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86199" y="42393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67200" y="40665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반응형 UI PC · 태블릿 해상도 완전 최적화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86199" y="50211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67200" y="48483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Docker + Kubernetes 컨테이너 배포 자동화 구현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86199" y="580290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67200" y="5630100"/>
            <a:ext cx="35172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GitHub Actions CI/CD 파이프라인 및 자동 테스트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44800" y="6224400"/>
            <a:ext cx="3639600" cy="136800"/>
          </a:xfrm>
          <a:prstGeom prst="rect">
            <a:avLst/>
          </a:prstGeom>
          <a:solidFill>
            <a:srgbClr val="CCF0F8"/>
          </a:solidFill>
          <a:ln w="63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44800" y="6224400"/>
            <a:ext cx="36396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891B2"/>
                </a:solidFill>
              </a:rPr>
              <a:t>▲ 기관 간 협업 완성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418800"/>
            <a:ext cx="12193200" cy="3455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0" y="6418800"/>
            <a:ext cx="12193200" cy="2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96000" y="6548400"/>
            <a:ext cx="57600" cy="57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96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보고서 작성 70% 단축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964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196400" y="6548400"/>
            <a:ext cx="57600" cy="57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00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LH 실증 준비 완성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968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996800" y="6548400"/>
            <a:ext cx="57600" cy="57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904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기관 간 협업 구축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764400"/>
            <a:ext cx="12193200" cy="93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0" y="67644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199" y="1368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</a:rPr>
              <a:t>광역권 AI 모빌리티 시뮬레이션 플랫폼  ·  3차년도 연구계획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7199" y="4248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200" b="1" i="0">
                <a:solidFill>
                  <a:srgbClr val="E2E8F0"/>
                </a:solidFill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482400"/>
            <a:ext cx="9961200" cy="34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426"/>
                </a:solidFill>
              </a:rPr>
              <a:t>3차년도 추진 일정  —  분기별 로드맵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827999"/>
            <a:ext cx="9961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Q1 기반 설계 · Q2 핵심 기능 개발 · Q3 기능 완성·연동 · Q4 검증·배포 완성  ·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1015200"/>
            <a:ext cx="1260000" cy="2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99200" y="1015200"/>
            <a:ext cx="432000" cy="25200"/>
          </a:xfrm>
          <a:prstGeom prst="rect">
            <a:avLst/>
          </a:prstGeom>
          <a:solidFill>
            <a:srgbClr val="6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4400" y="1015200"/>
            <a:ext cx="198000" cy="25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400" y="1054800"/>
            <a:ext cx="2798099" cy="3096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400" y="1036800"/>
            <a:ext cx="2798099" cy="3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400" y="1036800"/>
            <a:ext cx="2798099" cy="86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2800" y="1044000"/>
            <a:ext cx="2690099" cy="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Q1  1 ~ 3월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800" y="1137600"/>
            <a:ext cx="26900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426"/>
                </a:solidFill>
              </a:rPr>
              <a:t>기반 설계·착수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800" y="1137600"/>
            <a:ext cx="26900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</a:rPr>
              <a:t>기반 설계·착수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7300" y="1054800"/>
            <a:ext cx="2798099" cy="3096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69299" y="1036800"/>
            <a:ext cx="2798099" cy="3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69299" y="1036800"/>
            <a:ext cx="2798099" cy="86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55699" y="1044000"/>
            <a:ext cx="2690099" cy="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Q2  4 ~ 6월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5699" y="1137600"/>
            <a:ext cx="26900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426"/>
                </a:solidFill>
              </a:rPr>
              <a:t>핵심 기능 개발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5699" y="1137600"/>
            <a:ext cx="26900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핵심 기능 개발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0199" y="1054800"/>
            <a:ext cx="2798099" cy="3096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2199" y="1036800"/>
            <a:ext cx="2798099" cy="3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2199" y="1036800"/>
            <a:ext cx="2798099" cy="86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8599" y="1044000"/>
            <a:ext cx="2690099" cy="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Q3  7 ~ 9월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8599" y="1137600"/>
            <a:ext cx="26900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426"/>
                </a:solidFill>
              </a:rPr>
              <a:t>기능 완성·연동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8599" y="1137600"/>
            <a:ext cx="26900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기능 완성·연동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3099" y="1054800"/>
            <a:ext cx="2798099" cy="3096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95099" y="1036800"/>
            <a:ext cx="2798099" cy="3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95099" y="1036800"/>
            <a:ext cx="2798099" cy="86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81499" y="1044000"/>
            <a:ext cx="2690099" cy="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Q4  10 ~ 12월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1499" y="1137600"/>
            <a:ext cx="26900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426"/>
                </a:solidFill>
              </a:rPr>
              <a:t>검증·배포·완성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1499" y="1137600"/>
            <a:ext cx="26900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891B2"/>
                </a:solidFill>
              </a:rPr>
              <a:t>검증·배포·완성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000" y="1393199"/>
            <a:ext cx="806400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375200"/>
            <a:ext cx="806400" cy="1325699"/>
          </a:xfrm>
          <a:prstGeom prst="rect">
            <a:avLst/>
          </a:prstGeom>
          <a:solidFill>
            <a:srgbClr val="DBE9FE"/>
          </a:solidFill>
          <a:ln w="50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1375200"/>
            <a:ext cx="79200" cy="132569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600" y="1829250"/>
            <a:ext cx="691200" cy="42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D4ED8"/>
                </a:solidFill>
              </a:rPr>
              <a:t>시나리오</a:t>
            </a:r>
          </a:p>
          <a:p>
            <a:pPr algn="ctr"/>
            <a:r>
              <a:rPr sz="850" b="1">
                <a:solidFill>
                  <a:srgbClr val="1D4ED8"/>
                </a:solidFill>
              </a:rPr>
              <a:t>구현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0800" y="13896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6400" y="13752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6400" y="1375200"/>
            <a:ext cx="2798099" cy="720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6400" y="1375200"/>
            <a:ext cx="64800" cy="132569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7200" y="1411200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신도시 시나리오 설계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7200" y="16127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유스케이스 요구사항 정의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200" y="17712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남양주왕숙·하남교산 설계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7200" y="2513700"/>
            <a:ext cx="2661299" cy="144000"/>
          </a:xfrm>
          <a:prstGeom prst="rect">
            <a:avLst/>
          </a:prstGeom>
          <a:solidFill>
            <a:srgbClr val="DBE9FE"/>
          </a:solidFill>
          <a:ln w="50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8800" y="2520900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</a:rPr>
              <a:t>◆  유스케이스 정의서 v1.0</a:t>
            </a:r>
          </a:p>
        </p:txBody>
      </p:sp>
      <p:sp>
        <p:nvSpPr>
          <p:cNvPr id="51" name="Diamond 50"/>
          <p:cNvSpPr/>
          <p:nvPr/>
        </p:nvSpPr>
        <p:spPr>
          <a:xfrm>
            <a:off x="3482100" y="1562400"/>
            <a:ext cx="100800" cy="100800"/>
          </a:xfrm>
          <a:prstGeom prst="diamond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83699" y="13896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69299" y="13752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69299" y="1375200"/>
            <a:ext cx="2798099" cy="720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69299" y="1375200"/>
            <a:ext cx="64800" cy="132569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70099" y="1411200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재개발·노후 시나리오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70099" y="16127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구도심 재개발 1차 구현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70099" y="17712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노후도시 시나리오 착수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70099" y="2513700"/>
            <a:ext cx="2661299" cy="144000"/>
          </a:xfrm>
          <a:prstGeom prst="rect">
            <a:avLst/>
          </a:prstGeom>
          <a:solidFill>
            <a:srgbClr val="DBE9FE"/>
          </a:solidFill>
          <a:ln w="50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91699" y="2520900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</a:rPr>
              <a:t>◆  1차 시나리오 완성</a:t>
            </a:r>
          </a:p>
        </p:txBody>
      </p:sp>
      <p:sp>
        <p:nvSpPr>
          <p:cNvPr id="61" name="Diamond 60"/>
          <p:cNvSpPr/>
          <p:nvPr/>
        </p:nvSpPr>
        <p:spPr>
          <a:xfrm>
            <a:off x="6344999" y="1562400"/>
            <a:ext cx="100800" cy="100800"/>
          </a:xfrm>
          <a:prstGeom prst="diamond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46599" y="13896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532199" y="13752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32199" y="1375200"/>
            <a:ext cx="2798099" cy="720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32199" y="1375200"/>
            <a:ext cx="64800" cy="132569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32999" y="1411200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3종 시나리오 통합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2999" y="16127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3개 시나리오 통합 완성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32999" y="17712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LH 검토 및 보완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32999" y="2513700"/>
            <a:ext cx="2661299" cy="144000"/>
          </a:xfrm>
          <a:prstGeom prst="rect">
            <a:avLst/>
          </a:prstGeom>
          <a:solidFill>
            <a:srgbClr val="DBE9FE"/>
          </a:solidFill>
          <a:ln w="50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54599" y="2520900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</a:rPr>
              <a:t>◆  통합 시나리오 완성</a:t>
            </a:r>
          </a:p>
        </p:txBody>
      </p:sp>
      <p:sp>
        <p:nvSpPr>
          <p:cNvPr id="71" name="Diamond 70"/>
          <p:cNvSpPr/>
          <p:nvPr/>
        </p:nvSpPr>
        <p:spPr>
          <a:xfrm>
            <a:off x="9207899" y="1562400"/>
            <a:ext cx="100800" cy="100800"/>
          </a:xfrm>
          <a:prstGeom prst="diamond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409499" y="13896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395099" y="13752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95099" y="1375200"/>
            <a:ext cx="2798099" cy="720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95099" y="1375200"/>
            <a:ext cx="64800" cy="132569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95900" y="1411200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LH 실증 검증·완성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95900" y="16127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LH 현장 적용 검증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95900" y="17712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실증 결과 분석·평가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495900" y="2513700"/>
            <a:ext cx="2661299" cy="144000"/>
          </a:xfrm>
          <a:prstGeom prst="rect">
            <a:avLst/>
          </a:prstGeom>
          <a:solidFill>
            <a:srgbClr val="DBE9FE"/>
          </a:solidFill>
          <a:ln w="50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517499" y="2520900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D4ED8"/>
                </a:solidFill>
              </a:rPr>
              <a:t>◆  실증 완성</a:t>
            </a:r>
          </a:p>
        </p:txBody>
      </p:sp>
      <p:sp>
        <p:nvSpPr>
          <p:cNvPr id="81" name="Diamond 80"/>
          <p:cNvSpPr/>
          <p:nvPr/>
        </p:nvSpPr>
        <p:spPr>
          <a:xfrm>
            <a:off x="12070799" y="1562400"/>
            <a:ext cx="100800" cy="100800"/>
          </a:xfrm>
          <a:prstGeom prst="diamond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000" y="2747700"/>
            <a:ext cx="806400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2729700"/>
            <a:ext cx="806400" cy="1325699"/>
          </a:xfrm>
          <a:prstGeom prst="rect">
            <a:avLst/>
          </a:prstGeom>
          <a:solidFill>
            <a:srgbClr val="D1FAE5"/>
          </a:solidFill>
          <a:ln w="50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0" y="2729700"/>
            <a:ext cx="79200" cy="132569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600" y="3183750"/>
            <a:ext cx="691200" cy="42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59669"/>
                </a:solidFill>
              </a:rPr>
              <a:t>시뮬레이션</a:t>
            </a:r>
          </a:p>
          <a:p>
            <a:pPr algn="ctr"/>
            <a:r>
              <a:rPr sz="850" b="1">
                <a:solidFill>
                  <a:srgbClr val="059669"/>
                </a:solidFill>
              </a:rPr>
              <a:t>완성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0800" y="27441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06400" y="27297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6400" y="2729700"/>
            <a:ext cx="2798099" cy="7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6400" y="2729700"/>
            <a:ext cx="64800" cy="132569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7200" y="2765699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SUMO 연동 설계·PoC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7200" y="29673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OSM Import 파서 프로토타입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7200" y="31256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속성 매핑 아키텍처 설계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7200" y="3868199"/>
            <a:ext cx="2661299" cy="144000"/>
          </a:xfrm>
          <a:prstGeom prst="rect">
            <a:avLst/>
          </a:prstGeom>
          <a:solidFill>
            <a:srgbClr val="D1FAE5"/>
          </a:solidFill>
          <a:ln w="50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8800" y="3875399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9669"/>
                </a:solidFill>
              </a:rPr>
              <a:t>◆  파서 PoC 완성</a:t>
            </a:r>
          </a:p>
        </p:txBody>
      </p:sp>
      <p:sp>
        <p:nvSpPr>
          <p:cNvPr id="95" name="Diamond 94"/>
          <p:cNvSpPr/>
          <p:nvPr/>
        </p:nvSpPr>
        <p:spPr>
          <a:xfrm>
            <a:off x="3482100" y="2916899"/>
            <a:ext cx="100800" cy="100800"/>
          </a:xfrm>
          <a:prstGeom prst="diamond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683699" y="27441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669299" y="27297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669299" y="2729700"/>
            <a:ext cx="2798099" cy="7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669299" y="2729700"/>
            <a:ext cx="64800" cy="132569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70099" y="2765699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Import 엔진·편집 개발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70099" y="29673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OSM·KTDB Import 엔진 완성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70099" y="31256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네트워크 편집 고도화 착수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770099" y="3868199"/>
            <a:ext cx="2661299" cy="144000"/>
          </a:xfrm>
          <a:prstGeom prst="rect">
            <a:avLst/>
          </a:prstGeom>
          <a:solidFill>
            <a:srgbClr val="D1FAE5"/>
          </a:solidFill>
          <a:ln w="50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791699" y="3875399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9669"/>
                </a:solidFill>
              </a:rPr>
              <a:t>◆  Import 기능 완성</a:t>
            </a:r>
          </a:p>
        </p:txBody>
      </p:sp>
      <p:sp>
        <p:nvSpPr>
          <p:cNvPr id="105" name="Diamond 104"/>
          <p:cNvSpPr/>
          <p:nvPr/>
        </p:nvSpPr>
        <p:spPr>
          <a:xfrm>
            <a:off x="6344999" y="2916899"/>
            <a:ext cx="100800" cy="100800"/>
          </a:xfrm>
          <a:prstGeom prst="diamond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546599" y="27441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532199" y="27297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532199" y="2729700"/>
            <a:ext cx="2798099" cy="7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532199" y="2729700"/>
            <a:ext cx="64800" cy="132569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632999" y="2765699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편집·시뮬레이션 완성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2999" y="29673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네트워크·신호 편집 완성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32999" y="31256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실데이터 통합 테스트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32999" y="3868199"/>
            <a:ext cx="2661299" cy="144000"/>
          </a:xfrm>
          <a:prstGeom prst="rect">
            <a:avLst/>
          </a:prstGeom>
          <a:solidFill>
            <a:srgbClr val="D1FAE5"/>
          </a:solidFill>
          <a:ln w="50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54599" y="3875399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9669"/>
                </a:solidFill>
              </a:rPr>
              <a:t>◆  시뮬레이션 완성</a:t>
            </a:r>
          </a:p>
        </p:txBody>
      </p:sp>
      <p:sp>
        <p:nvSpPr>
          <p:cNvPr id="115" name="Diamond 114"/>
          <p:cNvSpPr/>
          <p:nvPr/>
        </p:nvSpPr>
        <p:spPr>
          <a:xfrm>
            <a:off x="9207899" y="2916899"/>
            <a:ext cx="100800" cy="100800"/>
          </a:xfrm>
          <a:prstGeom prst="diamond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409499" y="27441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395099" y="27297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395099" y="2729700"/>
            <a:ext cx="2798099" cy="72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395099" y="2729700"/>
            <a:ext cx="64800" cy="132569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495900" y="2765699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성능 최적화·검증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95900" y="29673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전체 성능 최적화 검증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495900" y="31256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KPI 달성 최종 확인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495900" y="3868199"/>
            <a:ext cx="2661299" cy="144000"/>
          </a:xfrm>
          <a:prstGeom prst="rect">
            <a:avLst/>
          </a:prstGeom>
          <a:solidFill>
            <a:srgbClr val="D1FAE5"/>
          </a:solidFill>
          <a:ln w="508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517499" y="3875399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59669"/>
                </a:solidFill>
              </a:rPr>
              <a:t>◆  검증 완료</a:t>
            </a:r>
          </a:p>
        </p:txBody>
      </p:sp>
      <p:sp>
        <p:nvSpPr>
          <p:cNvPr id="125" name="Diamond 124"/>
          <p:cNvSpPr/>
          <p:nvPr/>
        </p:nvSpPr>
        <p:spPr>
          <a:xfrm>
            <a:off x="12070799" y="2916899"/>
            <a:ext cx="100800" cy="100800"/>
          </a:xfrm>
          <a:prstGeom prst="diamond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8000" y="4102200"/>
            <a:ext cx="806400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0" y="4084199"/>
            <a:ext cx="806400" cy="1325699"/>
          </a:xfrm>
          <a:prstGeom prst="rect">
            <a:avLst/>
          </a:prstGeom>
          <a:solidFill>
            <a:srgbClr val="CCF0F8"/>
          </a:solidFill>
          <a:ln w="50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0" y="4084199"/>
            <a:ext cx="79200" cy="132569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3600" y="4538250"/>
            <a:ext cx="691200" cy="42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891B2"/>
                </a:solidFill>
              </a:rPr>
              <a:t>분석·</a:t>
            </a:r>
          </a:p>
          <a:p>
            <a:pPr algn="ctr"/>
            <a:r>
              <a:rPr sz="850" b="1">
                <a:solidFill>
                  <a:srgbClr val="0891B2"/>
                </a:solidFill>
              </a:rPr>
              <a:t>대시보드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20800" y="4098599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06400" y="4084199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06400" y="4084199"/>
            <a:ext cx="2798099" cy="72000"/>
          </a:xfrm>
          <a:prstGeom prst="rect">
            <a:avLst/>
          </a:prstGeom>
          <a:solidFill>
            <a:srgbClr val="CC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06400" y="4084199"/>
            <a:ext cx="64800" cy="132569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07200" y="4120199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LOS 엔진 설계·PoC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7200" y="43218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HCM LOS 엔진 프로토타입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7200" y="44801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교차로 분석 로직 설계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07200" y="5222699"/>
            <a:ext cx="2661299" cy="144000"/>
          </a:xfrm>
          <a:prstGeom prst="rect">
            <a:avLst/>
          </a:prstGeom>
          <a:solidFill>
            <a:srgbClr val="CCF0F8"/>
          </a:solidFill>
          <a:ln w="50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8800" y="5229899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891B2"/>
                </a:solidFill>
              </a:rPr>
              <a:t>◆  LOS PoC 완성</a:t>
            </a:r>
          </a:p>
        </p:txBody>
      </p:sp>
      <p:sp>
        <p:nvSpPr>
          <p:cNvPr id="139" name="Diamond 138"/>
          <p:cNvSpPr/>
          <p:nvPr/>
        </p:nvSpPr>
        <p:spPr>
          <a:xfrm>
            <a:off x="3482100" y="4271399"/>
            <a:ext cx="100800" cy="100800"/>
          </a:xfrm>
          <a:prstGeom prst="diamond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683699" y="4098599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669299" y="4084199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669299" y="4084199"/>
            <a:ext cx="2798099" cy="72000"/>
          </a:xfrm>
          <a:prstGeom prst="rect">
            <a:avLst/>
          </a:prstGeom>
          <a:solidFill>
            <a:srgbClr val="CC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669299" y="4084199"/>
            <a:ext cx="64800" cy="132569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770099" y="4120199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속도·탄소배출 개발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770099" y="43218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속도 프로파일 대시보드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770099" y="44801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MOVES 탄소배출 엔진 착수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770099" y="5222699"/>
            <a:ext cx="2661299" cy="144000"/>
          </a:xfrm>
          <a:prstGeom prst="rect">
            <a:avLst/>
          </a:prstGeom>
          <a:solidFill>
            <a:srgbClr val="CCF0F8"/>
          </a:solidFill>
          <a:ln w="50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791699" y="5229899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891B2"/>
                </a:solidFill>
              </a:rPr>
              <a:t>◆  분석 1차 완성</a:t>
            </a:r>
          </a:p>
        </p:txBody>
      </p:sp>
      <p:sp>
        <p:nvSpPr>
          <p:cNvPr id="149" name="Diamond 148"/>
          <p:cNvSpPr/>
          <p:nvPr/>
        </p:nvSpPr>
        <p:spPr>
          <a:xfrm>
            <a:off x="6344999" y="4271399"/>
            <a:ext cx="100800" cy="100800"/>
          </a:xfrm>
          <a:prstGeom prst="diamond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546599" y="4098599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532199" y="4084199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532199" y="4084199"/>
            <a:ext cx="2798099" cy="72000"/>
          </a:xfrm>
          <a:prstGeom prst="rect">
            <a:avLst/>
          </a:prstGeom>
          <a:solidFill>
            <a:srgbClr val="CC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532199" y="4084199"/>
            <a:ext cx="64800" cy="132569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632999" y="4120199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A/B 비교·대시보드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632999" y="43218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탄소배출·A/B 비교뷰 완성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632999" y="44801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대시보드 전체 통합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632999" y="5222699"/>
            <a:ext cx="2661299" cy="144000"/>
          </a:xfrm>
          <a:prstGeom prst="rect">
            <a:avLst/>
          </a:prstGeom>
          <a:solidFill>
            <a:srgbClr val="CCF0F8"/>
          </a:solidFill>
          <a:ln w="50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654599" y="5229899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891B2"/>
                </a:solidFill>
              </a:rPr>
              <a:t>◆  대시보드 완성</a:t>
            </a:r>
          </a:p>
        </p:txBody>
      </p:sp>
      <p:sp>
        <p:nvSpPr>
          <p:cNvPr id="159" name="Diamond 158"/>
          <p:cNvSpPr/>
          <p:nvPr/>
        </p:nvSpPr>
        <p:spPr>
          <a:xfrm>
            <a:off x="9207899" y="4271399"/>
            <a:ext cx="100800" cy="100800"/>
          </a:xfrm>
          <a:prstGeom prst="diamond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409499" y="4098599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395099" y="4084199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9395099" y="4084199"/>
            <a:ext cx="2798099" cy="72000"/>
          </a:xfrm>
          <a:prstGeom prst="rect">
            <a:avLst/>
          </a:prstGeom>
          <a:solidFill>
            <a:srgbClr val="CC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395099" y="4084199"/>
            <a:ext cx="64800" cy="132569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495900" y="4120199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분석 검증·성과 측정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495900" y="43218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HCM 검증·KPI 달성 확인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495900" y="4480199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최종 분석 성과 측정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495900" y="5222699"/>
            <a:ext cx="2661299" cy="144000"/>
          </a:xfrm>
          <a:prstGeom prst="rect">
            <a:avLst/>
          </a:prstGeom>
          <a:solidFill>
            <a:srgbClr val="CCF0F8"/>
          </a:solidFill>
          <a:ln w="50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517499" y="5229899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891B2"/>
                </a:solidFill>
              </a:rPr>
              <a:t>◆  분석 완성</a:t>
            </a:r>
          </a:p>
        </p:txBody>
      </p:sp>
      <p:sp>
        <p:nvSpPr>
          <p:cNvPr id="169" name="Diamond 168"/>
          <p:cNvSpPr/>
          <p:nvPr/>
        </p:nvSpPr>
        <p:spPr>
          <a:xfrm>
            <a:off x="12070799" y="4271399"/>
            <a:ext cx="100800" cy="100800"/>
          </a:xfrm>
          <a:prstGeom prst="diamond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8000" y="5456700"/>
            <a:ext cx="806400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0" y="5438700"/>
            <a:ext cx="806400" cy="1325699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0" y="5438700"/>
            <a:ext cx="79200" cy="132569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3600" y="5892750"/>
            <a:ext cx="691200" cy="42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</a:rPr>
              <a:t>플랫폼</a:t>
            </a:r>
          </a:p>
          <a:p>
            <a:pPr algn="ctr"/>
            <a:r>
              <a:rPr sz="850" b="1">
                <a:solidFill>
                  <a:srgbClr val="7C3AED"/>
                </a:solidFill>
              </a:rPr>
              <a:t>완성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20800" y="54531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06400" y="54387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06400" y="5438700"/>
            <a:ext cx="2798099" cy="72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6400" y="5438700"/>
            <a:ext cx="64800" cy="132569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07200" y="5474700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리포트·영상 설계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07200" y="56763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PDF 리포트 기본 구조 구현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07200" y="58347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ffmpeg 영상 캡처 PoC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07200" y="6577200"/>
            <a:ext cx="2661299" cy="144000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28800" y="6584400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◆  기본 리포트 완성</a:t>
            </a:r>
          </a:p>
        </p:txBody>
      </p:sp>
      <p:sp>
        <p:nvSpPr>
          <p:cNvPr id="183" name="Diamond 182"/>
          <p:cNvSpPr/>
          <p:nvPr/>
        </p:nvSpPr>
        <p:spPr>
          <a:xfrm>
            <a:off x="3482100" y="5625900"/>
            <a:ext cx="100800" cy="100800"/>
          </a:xfrm>
          <a:prstGeom prst="diamond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683699" y="54531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3669299" y="54387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669299" y="5438700"/>
            <a:ext cx="2798099" cy="72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669299" y="5438700"/>
            <a:ext cx="64800" cy="132569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770099" y="5474700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LH 실증 환경 착수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770099" y="56763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LH API 인터페이스 설계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770099" y="58347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협업 기능·권한 관리 개발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770099" y="6577200"/>
            <a:ext cx="2661299" cy="144000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791699" y="6584400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◆  LH 환경 착수</a:t>
            </a:r>
          </a:p>
        </p:txBody>
      </p:sp>
      <p:sp>
        <p:nvSpPr>
          <p:cNvPr id="193" name="Diamond 192"/>
          <p:cNvSpPr/>
          <p:nvPr/>
        </p:nvSpPr>
        <p:spPr>
          <a:xfrm>
            <a:off x="6344999" y="5625900"/>
            <a:ext cx="100800" cy="100800"/>
          </a:xfrm>
          <a:prstGeom prst="diamond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546599" y="54531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532199" y="54387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532199" y="5438700"/>
            <a:ext cx="2798099" cy="72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532199" y="5438700"/>
            <a:ext cx="64800" cy="132569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632999" y="5474700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협업·배포 환경 완성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632999" y="56763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CRDT 협업·권한 관리 완성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632999" y="58347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Docker·K8s 배포 파이프라인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632999" y="6577200"/>
            <a:ext cx="2661299" cy="144000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654599" y="6584400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◆  플랫폼 1차 완성</a:t>
            </a:r>
          </a:p>
        </p:txBody>
      </p:sp>
      <p:sp>
        <p:nvSpPr>
          <p:cNvPr id="203" name="Diamond 202"/>
          <p:cNvSpPr/>
          <p:nvPr/>
        </p:nvSpPr>
        <p:spPr>
          <a:xfrm>
            <a:off x="9207899" y="5625900"/>
            <a:ext cx="100800" cy="100800"/>
          </a:xfrm>
          <a:prstGeom prst="diamond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409499" y="5453100"/>
            <a:ext cx="2798099" cy="13256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95099" y="5438700"/>
            <a:ext cx="2798099" cy="1325699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95099" y="5438700"/>
            <a:ext cx="2798099" cy="72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95099" y="5438700"/>
            <a:ext cx="64800" cy="132569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9495900" y="5474700"/>
            <a:ext cx="26612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426"/>
                </a:solidFill>
              </a:rPr>
              <a:t>배포·운영 전환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9495900" y="56763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사용자 교육·인수·운영 전환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495900" y="5834700"/>
            <a:ext cx="266129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최종 산출물 제출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9495900" y="6577200"/>
            <a:ext cx="2661299" cy="144000"/>
          </a:xfrm>
          <a:prstGeom prst="rect">
            <a:avLst/>
          </a:prstGeom>
          <a:solidFill>
            <a:srgbClr val="EDE9FE"/>
          </a:solidFill>
          <a:ln w="50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517499" y="6584400"/>
            <a:ext cx="2639699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C3AED"/>
                </a:solidFill>
              </a:rPr>
              <a:t>◆  배포 완료</a:t>
            </a:r>
          </a:p>
        </p:txBody>
      </p:sp>
      <p:sp>
        <p:nvSpPr>
          <p:cNvPr id="213" name="Diamond 212"/>
          <p:cNvSpPr/>
          <p:nvPr/>
        </p:nvSpPr>
        <p:spPr>
          <a:xfrm>
            <a:off x="12070799" y="5625900"/>
            <a:ext cx="100800" cy="100800"/>
          </a:xfrm>
          <a:prstGeom prst="diamond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99799" y="1058400"/>
            <a:ext cx="36000" cy="5706000"/>
          </a:xfrm>
          <a:prstGeom prst="rect">
            <a:avLst/>
          </a:prstGeom>
          <a:solidFill>
            <a:srgbClr val="FE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413399" y="1072800"/>
            <a:ext cx="360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</a:rPr>
              <a:t>중간 점검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0" y="6764400"/>
            <a:ext cx="12193200" cy="93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0" y="67644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199" y="1368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</a:rPr>
              <a:t>광역권 AI 모빌리티 시뮬레이션 플랫폼  ·  3차년도 연구계획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7199" y="424800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200" b="1" i="0">
                <a:solidFill>
                  <a:srgbClr val="E2E8F0"/>
                </a:solidFill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482400"/>
            <a:ext cx="9961200" cy="34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426"/>
                </a:solidFill>
              </a:rPr>
              <a:t>기대 효과 및 활용 방안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827999"/>
            <a:ext cx="9961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</a:rPr>
              <a:t>정량 성과 목표 6종 · 신도시·행정·환경·분석 4대 활용 분야 · 사회경제적 파급효과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" y="1015200"/>
            <a:ext cx="1260000" cy="25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99200" y="1015200"/>
            <a:ext cx="432000" cy="25200"/>
          </a:xfrm>
          <a:prstGeom prst="rect">
            <a:avLst/>
          </a:prstGeom>
          <a:solidFill>
            <a:srgbClr val="6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4400" y="1015200"/>
            <a:ext cx="198000" cy="25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600" y="1058400"/>
            <a:ext cx="1871400" cy="115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1036800"/>
            <a:ext cx="1871400" cy="115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6000" y="1036800"/>
            <a:ext cx="1871400" cy="10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000" y="1159200"/>
            <a:ext cx="1871400" cy="37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D4ED8"/>
                </a:solidFill>
              </a:rPr>
              <a:t>3종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" y="1548000"/>
            <a:ext cx="1871400" cy="33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475569"/>
                </a:solidFill>
              </a:rPr>
              <a:t>시나리오</a:t>
            </a:r>
          </a:p>
          <a:p>
            <a:pPr algn="ctr"/>
            <a:r>
              <a:rPr sz="850">
                <a:solidFill>
                  <a:srgbClr val="475569"/>
                </a:solidFill>
              </a:rPr>
              <a:t>구현 완성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600" y="2030400"/>
            <a:ext cx="1720200" cy="648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600" y="2030400"/>
            <a:ext cx="1720200" cy="64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64200" y="1958399"/>
            <a:ext cx="360000" cy="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1D4ED8"/>
                </a:solidFill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7800" y="1058400"/>
            <a:ext cx="1871400" cy="115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96200" y="1036800"/>
            <a:ext cx="1871400" cy="115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96200" y="1036800"/>
            <a:ext cx="1871400" cy="10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96200" y="1159200"/>
            <a:ext cx="1871400" cy="37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59669"/>
                </a:solidFill>
              </a:rPr>
              <a:t>LH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6200" y="1548000"/>
            <a:ext cx="1871400" cy="33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475569"/>
                </a:solidFill>
              </a:rPr>
              <a:t>실증 준비</a:t>
            </a:r>
          </a:p>
          <a:p>
            <a:pPr algn="ctr"/>
            <a:r>
              <a:rPr sz="850">
                <a:solidFill>
                  <a:srgbClr val="475569"/>
                </a:solidFill>
              </a:rPr>
              <a:t>완성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9800" y="2030400"/>
            <a:ext cx="1720200" cy="648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89800" y="2030400"/>
            <a:ext cx="1720200" cy="64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4400" y="1958399"/>
            <a:ext cx="360000" cy="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059669"/>
                </a:solidFill>
              </a:rPr>
              <a:t>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8000" y="1058400"/>
            <a:ext cx="1871400" cy="115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96400" y="1036800"/>
            <a:ext cx="1871400" cy="115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96400" y="1036800"/>
            <a:ext cx="1871400" cy="10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96400" y="1159200"/>
            <a:ext cx="1871400" cy="37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891B2"/>
                </a:solidFill>
              </a:rPr>
              <a:t>15%↑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6400" y="1548000"/>
            <a:ext cx="1871400" cy="33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475569"/>
                </a:solidFill>
              </a:rPr>
              <a:t>교차로 운영</a:t>
            </a:r>
          </a:p>
          <a:p>
            <a:pPr algn="ctr"/>
            <a:r>
              <a:rPr sz="850">
                <a:solidFill>
                  <a:srgbClr val="475569"/>
                </a:solidFill>
              </a:rPr>
              <a:t>효율 향상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0000" y="2030400"/>
            <a:ext cx="1720200" cy="64800"/>
          </a:xfrm>
          <a:prstGeom prst="rect">
            <a:avLst/>
          </a:prstGeom>
          <a:solidFill>
            <a:srgbClr val="CC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0000" y="2030400"/>
            <a:ext cx="1462170" cy="64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4600" y="1958399"/>
            <a:ext cx="360000" cy="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0891B2"/>
                </a:solidFill>
              </a:rPr>
              <a:t>85%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18200" y="1058400"/>
            <a:ext cx="1871400" cy="115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600" y="1036800"/>
            <a:ext cx="1871400" cy="115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6600" y="1036800"/>
            <a:ext cx="1871400" cy="10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600" y="1159200"/>
            <a:ext cx="1871400" cy="37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600" y="1548000"/>
            <a:ext cx="1871400" cy="33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475569"/>
                </a:solidFill>
              </a:rPr>
              <a:t>대시보드</a:t>
            </a:r>
          </a:p>
          <a:p>
            <a:pPr algn="ctr"/>
            <a:r>
              <a:rPr sz="850">
                <a:solidFill>
                  <a:srgbClr val="475569"/>
                </a:solidFill>
              </a:rPr>
              <a:t>완성도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0200" y="2030400"/>
            <a:ext cx="1720200" cy="64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0200" y="2030400"/>
            <a:ext cx="1720200" cy="64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64800" y="1958399"/>
            <a:ext cx="360000" cy="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D97706"/>
                </a:solidFill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8400" y="1058400"/>
            <a:ext cx="1871400" cy="115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96800" y="1036800"/>
            <a:ext cx="1871400" cy="115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96800" y="1036800"/>
            <a:ext cx="1871400" cy="10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96800" y="1159200"/>
            <a:ext cx="1871400" cy="37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3AED"/>
                </a:solidFill>
              </a:rPr>
              <a:t>70%↓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96800" y="1548000"/>
            <a:ext cx="1871400" cy="33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475569"/>
                </a:solidFill>
              </a:rPr>
              <a:t>보고서 작성</a:t>
            </a:r>
          </a:p>
          <a:p>
            <a:pPr algn="ctr"/>
            <a:r>
              <a:rPr sz="850">
                <a:solidFill>
                  <a:srgbClr val="475569"/>
                </a:solidFill>
              </a:rPr>
              <a:t>비용 절감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0400" y="2030400"/>
            <a:ext cx="1720200" cy="648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90400" y="2030400"/>
            <a:ext cx="1204140" cy="6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65000" y="1958399"/>
            <a:ext cx="360000" cy="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3AED"/>
                </a:solidFill>
              </a:rPr>
              <a:t>70%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918600" y="1058400"/>
            <a:ext cx="1871400" cy="1159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897000" y="1036800"/>
            <a:ext cx="1871400" cy="1159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97000" y="1036800"/>
            <a:ext cx="1871400" cy="10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7000" y="1159200"/>
            <a:ext cx="1871400" cy="37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C2626"/>
                </a:solidFill>
              </a:rPr>
              <a:t>&lt;500ms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97000" y="1548000"/>
            <a:ext cx="1871400" cy="33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475569"/>
                </a:solidFill>
              </a:rPr>
              <a:t>실시간</a:t>
            </a:r>
          </a:p>
          <a:p>
            <a:pPr algn="ctr"/>
            <a:r>
              <a:rPr sz="850">
                <a:solidFill>
                  <a:srgbClr val="475569"/>
                </a:solidFill>
              </a:rPr>
              <a:t>응답 속도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90600" y="2030400"/>
            <a:ext cx="1720200" cy="648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990600" y="2030400"/>
            <a:ext cx="1634190" cy="6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365200" y="1958399"/>
            <a:ext cx="360000" cy="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DC2626"/>
                </a:solidFill>
              </a:rPr>
              <a:t>95%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6000" y="2268000"/>
            <a:ext cx="50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주요 활용 분야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6000" y="2426400"/>
            <a:ext cx="114012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1200" y="2509200"/>
            <a:ext cx="2785500" cy="3942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96000" y="2484000"/>
            <a:ext cx="2785500" cy="39420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96000" y="2484000"/>
            <a:ext cx="2785500" cy="1368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709550" y="247320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709550" y="2473200"/>
            <a:ext cx="158400" cy="1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</a:rPr>
              <a:t>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0800" y="2642400"/>
            <a:ext cx="2699100" cy="19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426"/>
                </a:solidFill>
              </a:rPr>
              <a:t>신도시·도시정비 활용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0800" y="2851200"/>
            <a:ext cx="26559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87800" y="330705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6000" y="31864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3기 신도시 6곳 교통대책 수립 지원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7800" y="419355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000" y="40729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재개발·재건축 교통영향평가 자동화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7800" y="508005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6000" y="49594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LH 업무 시스템 API 직접 연계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7800" y="5966550"/>
            <a:ext cx="32400" cy="3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6000" y="58459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노후 신도시 재정비 계획 지원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71500" y="2509200"/>
            <a:ext cx="2785500" cy="3942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46300" y="2484000"/>
            <a:ext cx="2785500" cy="39420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46300" y="2484000"/>
            <a:ext cx="2785500" cy="136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559850" y="247320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59850" y="2473200"/>
            <a:ext cx="158400" cy="1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C2626"/>
                </a:solidFill>
              </a:rPr>
              <a:t>행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11100" y="2642400"/>
            <a:ext cx="2699100" cy="19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426"/>
                </a:solidFill>
              </a:rPr>
              <a:t>행정·정책 의사결정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11100" y="2851200"/>
            <a:ext cx="26559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338100" y="3307050"/>
            <a:ext cx="32400" cy="32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26300" y="31864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교통영향평가 자동화 보고서 제출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38100" y="4193550"/>
            <a:ext cx="32400" cy="32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26300" y="40729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지자체 교통 운영 의사결정 지원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38100" y="5080050"/>
            <a:ext cx="32400" cy="32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26300" y="49594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도로 신설·확장 사전 효과 검토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38100" y="5966550"/>
            <a:ext cx="32400" cy="32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26300" y="58459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대중교통 개편 효과 예측 분석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21800" y="2509200"/>
            <a:ext cx="2785500" cy="3942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96600" y="2484000"/>
            <a:ext cx="2785500" cy="39420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096600" y="2484000"/>
            <a:ext cx="2785500" cy="136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410149" y="247320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10149" y="2473200"/>
            <a:ext cx="158400" cy="1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891B2"/>
                </a:solidFill>
              </a:rPr>
              <a:t>분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61399" y="2642400"/>
            <a:ext cx="2699100" cy="19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426"/>
                </a:solidFill>
              </a:rPr>
              <a:t>분석·시각화 플랫폼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61399" y="2851200"/>
            <a:ext cx="26559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88399" y="330705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76600" y="31864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실시간 교통 모니터링 시스템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188399" y="419355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76600" y="40729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시나리오 비교 정책 결정 도구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88399" y="508005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76600" y="49594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KPI 리포트 공공 포털 공유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88399" y="5966550"/>
            <a:ext cx="32400" cy="32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76600" y="58459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교통 빅데이터 분석 플랫폼 연계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72100" y="2509200"/>
            <a:ext cx="2785500" cy="3942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946900" y="2484000"/>
            <a:ext cx="2785500" cy="39420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946900" y="2484000"/>
            <a:ext cx="2785500" cy="136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260450" y="2473200"/>
            <a:ext cx="1584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60450" y="2473200"/>
            <a:ext cx="158400" cy="1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97706"/>
                </a:solidFill>
              </a:rPr>
              <a:t>환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11700" y="2642400"/>
            <a:ext cx="2699100" cy="19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1426"/>
                </a:solidFill>
              </a:rPr>
              <a:t>환경·지속가능성 기여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011700" y="2851200"/>
            <a:ext cx="2655900" cy="10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038700" y="3307050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126900" y="31864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탄소배출 저감 시나리오 비교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38700" y="4193550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126900" y="40729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친환경 교통 정책 효과 입증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038700" y="5080050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26900" y="49594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온실가스 감축 목표 달성 기여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038700" y="5966550"/>
            <a:ext cx="32400" cy="32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126900" y="5845950"/>
            <a:ext cx="2555100" cy="27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보행·자전거 전환 효과 정량화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96000" y="6404400"/>
            <a:ext cx="11401200" cy="345599"/>
          </a:xfrm>
          <a:prstGeom prst="rect">
            <a:avLst/>
          </a:prstGeom>
          <a:solidFill>
            <a:srgbClr val="DBE9FE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6000" y="6404400"/>
            <a:ext cx="100800" cy="34559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7200" y="6447600"/>
            <a:ext cx="11113200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1426"/>
                </a:solidFill>
              </a:rPr>
              <a:t>3차년도 구현 완성  →  LH 실증  →  교통 디지털트윈 표준 플랫폼 확산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0" y="6418800"/>
            <a:ext cx="12193200" cy="345599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0" y="64188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96000" y="6548400"/>
            <a:ext cx="57600" cy="57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896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신도시 교통계획 자동화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1964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196400" y="6548400"/>
            <a:ext cx="57600" cy="57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2900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LH 실증 완성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996800" y="6490800"/>
            <a:ext cx="10800" cy="20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996800" y="6548400"/>
            <a:ext cx="57600" cy="57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090400" y="6498000"/>
            <a:ext cx="3605999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75569"/>
                </a:solidFill>
              </a:rPr>
              <a:t>탄소 저감 정량화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0" y="6764400"/>
            <a:ext cx="12193200" cy="936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0" y="67644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