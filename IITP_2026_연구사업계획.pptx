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40000" y="0"/>
            <a:ext cx="2520000" cy="68580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80000" y="1260000"/>
            <a:ext cx="1440000" cy="144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360000"/>
            <a:ext cx="1620000" cy="19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000" y="378000"/>
            <a:ext cx="1548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2026 연구사업 계획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720000"/>
            <a:ext cx="79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도시교통 디지털트윈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260000"/>
            <a:ext cx="79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B4D8"/>
                </a:solidFill>
              </a:rPr>
              <a:t>시뮬레이션 플랫폼 고도화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835999"/>
            <a:ext cx="82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0E0EF"/>
                </a:solidFill>
              </a:rPr>
              <a:t>네트워크 편집 · 실시간 시뮬레이션 · 지능형 분석 · 운영 자동화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142000"/>
            <a:ext cx="11088000" cy="2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2232000"/>
            <a:ext cx="64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한국도로공사 도로교통연구원   |   IITP 지원과제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430000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2026. 03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92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0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5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연구 추진 체계 및 세부 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972000"/>
            <a:ext cx="5580000" cy="342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972000"/>
            <a:ext cx="396000" cy="34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00" y="1015200"/>
            <a:ext cx="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9972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연구 배경 및 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000" y="11592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현황과 한계, 추진 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1375200"/>
            <a:ext cx="5580000" cy="342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" y="1375200"/>
            <a:ext cx="396000" cy="34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00" y="1418400"/>
            <a:ext cx="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000" y="14004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기존 플랫폼 현황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000" y="15624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핵심 구현 기능 요약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778400"/>
            <a:ext cx="5580000" cy="342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" y="1778400"/>
            <a:ext cx="396000" cy="34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00" y="1821600"/>
            <a:ext cx="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000" y="18036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네트워크 편집 고도화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00" y="19656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위상 검증 · OSM 임포트 · Diff 시각화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181600"/>
            <a:ext cx="5580000" cy="342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00" y="2181600"/>
            <a:ext cx="396000" cy="34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00" y="2224800"/>
            <a:ext cx="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000" y="22068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시뮬레이션 고도화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000" y="23688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실시간 연동 · 이벤트 편집 · A/B 비교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2000" y="972000"/>
            <a:ext cx="5580000" cy="342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2000" y="972000"/>
            <a:ext cx="396000" cy="34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1015200"/>
            <a:ext cx="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2000" y="9972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분석 기능 확장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2000" y="11592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교차로 성능 · 속도 프로파일 · 탄소 배출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2000" y="1375200"/>
            <a:ext cx="5580000" cy="342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72000" y="1375200"/>
            <a:ext cx="396000" cy="34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799" y="1418400"/>
            <a:ext cx="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22000" y="14004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UX 및 운영 편의 향상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2000" y="15624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영상 내보내기 · 자동 리포트 · 대시보드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1778400"/>
            <a:ext cx="5580000" cy="342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72000" y="1778400"/>
            <a:ext cx="396000" cy="342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799" y="1821600"/>
            <a:ext cx="3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2000" y="18036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추진 일정 및 기대 효과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2000" y="1965600"/>
            <a:ext cx="50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CC"/>
                </a:solidFill>
              </a:rPr>
              <a:t>로드맵 · KPI · 활용 방안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20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25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 연구 배경 및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864000"/>
            <a:ext cx="3671999" cy="1655999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864000"/>
            <a:ext cx="3671999" cy="21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8892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교통 혼잡 비용</a:t>
            </a:r>
          </a:p>
        </p:txBody>
      </p:sp>
      <p:sp>
        <p:nvSpPr>
          <p:cNvPr id="9" name="Oval 8"/>
          <p:cNvSpPr/>
          <p:nvPr/>
        </p:nvSpPr>
        <p:spPr>
          <a:xfrm>
            <a:off x="540000" y="1213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800" y="117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연간 약 73조 원 (2023)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1483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800" y="144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수도권 집중화 지속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1753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800" y="171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C-ITS·자율주행 확산</a:t>
            </a:r>
          </a:p>
        </p:txBody>
      </p:sp>
      <p:sp>
        <p:nvSpPr>
          <p:cNvPr id="15" name="Oval 14"/>
          <p:cNvSpPr/>
          <p:nvPr/>
        </p:nvSpPr>
        <p:spPr>
          <a:xfrm>
            <a:off x="540000" y="2023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800" y="198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정밀 교통 분석 수요 급증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0" y="864000"/>
            <a:ext cx="3671999" cy="1655999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0" y="864000"/>
            <a:ext cx="3671999" cy="216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000" y="8892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디지털트윈 정책</a:t>
            </a:r>
          </a:p>
        </p:txBody>
      </p:sp>
      <p:sp>
        <p:nvSpPr>
          <p:cNvPr id="20" name="Oval 19"/>
          <p:cNvSpPr/>
          <p:nvPr/>
        </p:nvSpPr>
        <p:spPr>
          <a:xfrm>
            <a:off x="4428000" y="1213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4800" y="117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국토부 스마트시티 플랫폼</a:t>
            </a:r>
          </a:p>
        </p:txBody>
      </p:sp>
      <p:sp>
        <p:nvSpPr>
          <p:cNvPr id="22" name="Oval 21"/>
          <p:cNvSpPr/>
          <p:nvPr/>
        </p:nvSpPr>
        <p:spPr>
          <a:xfrm>
            <a:off x="4428000" y="1483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4800" y="144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교통 디지털트윈 국가 R&amp;D</a:t>
            </a:r>
          </a:p>
        </p:txBody>
      </p:sp>
      <p:sp>
        <p:nvSpPr>
          <p:cNvPr id="24" name="Oval 23"/>
          <p:cNvSpPr/>
          <p:nvPr/>
        </p:nvSpPr>
        <p:spPr>
          <a:xfrm>
            <a:off x="4428000" y="1753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4800" y="171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공간정보 오픈API 확대</a:t>
            </a:r>
          </a:p>
        </p:txBody>
      </p:sp>
      <p:sp>
        <p:nvSpPr>
          <p:cNvPr id="26" name="Oval 25"/>
          <p:cNvSpPr/>
          <p:nvPr/>
        </p:nvSpPr>
        <p:spPr>
          <a:xfrm>
            <a:off x="4428000" y="2023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4800" y="198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실시간 연계 인프라 구축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8000" y="864000"/>
            <a:ext cx="3671999" cy="1655999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8000" y="864000"/>
            <a:ext cx="3671999" cy="216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6000" y="8892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기존 시스템 한계</a:t>
            </a:r>
          </a:p>
        </p:txBody>
      </p:sp>
      <p:sp>
        <p:nvSpPr>
          <p:cNvPr id="31" name="Oval 30"/>
          <p:cNvSpPr/>
          <p:nvPr/>
        </p:nvSpPr>
        <p:spPr>
          <a:xfrm>
            <a:off x="8316000" y="1213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2800" y="117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정적 데이터 기반 재생만 가능</a:t>
            </a:r>
          </a:p>
        </p:txBody>
      </p:sp>
      <p:sp>
        <p:nvSpPr>
          <p:cNvPr id="33" name="Oval 32"/>
          <p:cNvSpPr/>
          <p:nvPr/>
        </p:nvSpPr>
        <p:spPr>
          <a:xfrm>
            <a:off x="8316000" y="1483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2800" y="144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편집 후 오류 자동 검출 없음</a:t>
            </a:r>
          </a:p>
        </p:txBody>
      </p:sp>
      <p:sp>
        <p:nvSpPr>
          <p:cNvPr id="35" name="Oval 34"/>
          <p:cNvSpPr/>
          <p:nvPr/>
        </p:nvSpPr>
        <p:spPr>
          <a:xfrm>
            <a:off x="8316000" y="1753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2800" y="171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외부 데이터 임포트 미지원</a:t>
            </a:r>
          </a:p>
        </p:txBody>
      </p:sp>
      <p:sp>
        <p:nvSpPr>
          <p:cNvPr id="37" name="Oval 36"/>
          <p:cNvSpPr/>
          <p:nvPr/>
        </p:nvSpPr>
        <p:spPr>
          <a:xfrm>
            <a:off x="8316000" y="2023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2800" y="1980000"/>
            <a:ext cx="3283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분석 결과 보고서화 불가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2000" y="2556000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※ 본 연구는 기존 플랫폼의 핵심 한계를 극복하고, 실시간·지능형 교통 디지털트윈 플랫폼으로 도약하는 것을 목표로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20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25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  기존 플랫폼 핵심 기능 현황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864000"/>
            <a:ext cx="2664000" cy="16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864000"/>
            <a:ext cx="2664000" cy="19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892800"/>
            <a:ext cx="3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8928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도로 네트워크 편집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170000"/>
            <a:ext cx="24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F0F8"/>
                </a:solidFill>
              </a:rPr>
              <a:t>· Node · Link · Lane ·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440000"/>
            <a:ext cx="24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F0F8"/>
                </a:solidFill>
              </a:rPr>
              <a:t>· 스키마 기반 동적 UI, 히스토리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000" y="864000"/>
            <a:ext cx="2664000" cy="16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6000" y="864000"/>
            <a:ext cx="2664000" cy="19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7999" y="892800"/>
            <a:ext cx="3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6000" y="8928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차량 시뮬레이션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170000"/>
            <a:ext cx="24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F0F8"/>
                </a:solidFill>
              </a:rPr>
              <a:t>· CZML + Web Worker 비동기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4000" y="1440000"/>
            <a:ext cx="24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F0F8"/>
                </a:solidFill>
              </a:rPr>
              <a:t>· 2D(OpenLayers) + 3D(Cesium) 동시 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0000" y="864000"/>
            <a:ext cx="2664000" cy="16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0000" y="864000"/>
            <a:ext cx="2664000" cy="198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2000" y="892800"/>
            <a:ext cx="3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0" y="8928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교통 제어 편집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8000" y="1170000"/>
            <a:ext cx="24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F0F8"/>
                </a:solidFill>
              </a:rPr>
              <a:t>· 신호 타이밍, 노면마킹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8000" y="1440000"/>
            <a:ext cx="24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F0F8"/>
                </a:solidFill>
              </a:rPr>
              <a:t>· 버스·철도 정류장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4000" y="864000"/>
            <a:ext cx="2664000" cy="16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4000" y="864000"/>
            <a:ext cx="2664000" cy="1980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6000" y="892800"/>
            <a:ext cx="3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4000" y="8928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분석 레이어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000" y="1170000"/>
            <a:ext cx="24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F0F8"/>
                </a:solidFill>
              </a:rPr>
              <a:t>· 히트맵, OD 매트릭스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2000" y="1440000"/>
            <a:ext cx="2412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F0F8"/>
                </a:solidFill>
              </a:rPr>
              <a:t>· Trail 분석, Recharts 기반 통계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2556000"/>
            <a:ext cx="11340000" cy="198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2570400"/>
            <a:ext cx="1116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E0EF"/>
                </a:solidFill>
              </a:rPr>
              <a:t>Tech Stack  :  Spring Boot  ·  PostgreSQL  ·  React/TypeScript  ·  CesiumJS  ·  OpenLayers  ·  Web Workers  ·  Recharts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20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"/>
            <a:ext cx="1080000" cy="19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5999" y="125999"/>
            <a:ext cx="1007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세부과제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25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 네트워크 편집 고도화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846000"/>
            <a:ext cx="125999" cy="171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999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위상 검증 (Topology Validation)</a:t>
            </a:r>
          </a:p>
        </p:txBody>
      </p:sp>
      <p:sp>
        <p:nvSpPr>
          <p:cNvPr id="11" name="Oval 10"/>
          <p:cNvSpPr/>
          <p:nvPr/>
        </p:nvSpPr>
        <p:spPr>
          <a:xfrm>
            <a:off x="647999" y="1195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799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단절 링크·고립 노드·차선 방향 충돌 자동 감지</a:t>
            </a:r>
          </a:p>
        </p:txBody>
      </p:sp>
      <p:sp>
        <p:nvSpPr>
          <p:cNvPr id="13" name="Oval 12"/>
          <p:cNvSpPr/>
          <p:nvPr/>
        </p:nvSpPr>
        <p:spPr>
          <a:xfrm>
            <a:off x="647999" y="14544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799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중복 좌표·역방향 링크 실시간 검출</a:t>
            </a:r>
          </a:p>
        </p:txBody>
      </p:sp>
      <p:sp>
        <p:nvSpPr>
          <p:cNvPr id="15" name="Oval 14"/>
          <p:cNvSpPr/>
          <p:nvPr/>
        </p:nvSpPr>
        <p:spPr>
          <a:xfrm>
            <a:off x="647999" y="17136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799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오류 요소 지도 하이라이트 + 원클릭 이동</a:t>
            </a:r>
          </a:p>
        </p:txBody>
      </p:sp>
      <p:sp>
        <p:nvSpPr>
          <p:cNvPr id="17" name="Oval 16"/>
          <p:cNvSpPr/>
          <p:nvPr/>
        </p:nvSpPr>
        <p:spPr>
          <a:xfrm>
            <a:off x="647999" y="19728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799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저장 전 검증 게이트 → 데이터 품질 보증</a:t>
            </a:r>
          </a:p>
        </p:txBody>
      </p:sp>
      <p:sp>
        <p:nvSpPr>
          <p:cNvPr id="19" name="Oval 18"/>
          <p:cNvSpPr/>
          <p:nvPr/>
        </p:nvSpPr>
        <p:spPr>
          <a:xfrm>
            <a:off x="647999" y="22320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799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오류 유형별 통계 패널 제공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000" y="846000"/>
            <a:ext cx="125999" cy="1710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6000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D6A0"/>
                </a:solidFill>
              </a:rPr>
              <a:t>OSM / SHP 외부 데이터 임포트</a:t>
            </a:r>
          </a:p>
        </p:txBody>
      </p:sp>
      <p:sp>
        <p:nvSpPr>
          <p:cNvPr id="24" name="Oval 23"/>
          <p:cNvSpPr/>
          <p:nvPr/>
        </p:nvSpPr>
        <p:spPr>
          <a:xfrm>
            <a:off x="4536000" y="1195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800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OpenStreetMap Overpass API 연동</a:t>
            </a:r>
          </a:p>
        </p:txBody>
      </p:sp>
      <p:sp>
        <p:nvSpPr>
          <p:cNvPr id="26" name="Oval 25"/>
          <p:cNvSpPr/>
          <p:nvPr/>
        </p:nvSpPr>
        <p:spPr>
          <a:xfrm>
            <a:off x="4536000" y="14544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800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SHP(Shapefile) 파일 업로드 및 변환</a:t>
            </a:r>
          </a:p>
        </p:txBody>
      </p:sp>
      <p:sp>
        <p:nvSpPr>
          <p:cNvPr id="28" name="Oval 27"/>
          <p:cNvSpPr/>
          <p:nvPr/>
        </p:nvSpPr>
        <p:spPr>
          <a:xfrm>
            <a:off x="4536000" y="17136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800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좌표계 자동 변환 (WGS84 ↔ EPSG:5186)</a:t>
            </a:r>
          </a:p>
        </p:txBody>
      </p:sp>
      <p:sp>
        <p:nvSpPr>
          <p:cNvPr id="30" name="Oval 29"/>
          <p:cNvSpPr/>
          <p:nvPr/>
        </p:nvSpPr>
        <p:spPr>
          <a:xfrm>
            <a:off x="4536000" y="19728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800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임포트 후 자동 위상 정제 파이프라인</a:t>
            </a:r>
          </a:p>
        </p:txBody>
      </p:sp>
      <p:sp>
        <p:nvSpPr>
          <p:cNvPr id="32" name="Oval 31"/>
          <p:cNvSpPr/>
          <p:nvPr/>
        </p:nvSpPr>
        <p:spPr>
          <a:xfrm>
            <a:off x="4536000" y="22320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800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현장 조사 없이 초기 네트워크 구축 가능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8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08000" y="846000"/>
            <a:ext cx="125999" cy="1710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000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9F1C"/>
                </a:solidFill>
              </a:rPr>
              <a:t>버전 간 네트워크 Diff 시각화</a:t>
            </a:r>
          </a:p>
        </p:txBody>
      </p:sp>
      <p:sp>
        <p:nvSpPr>
          <p:cNvPr id="37" name="Oval 36"/>
          <p:cNvSpPr/>
          <p:nvPr/>
        </p:nvSpPr>
        <p:spPr>
          <a:xfrm>
            <a:off x="8424000" y="1195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0800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v1 → v2 변경 사항 색상 구분 (추가/삭제/수정)</a:t>
            </a:r>
          </a:p>
        </p:txBody>
      </p:sp>
      <p:sp>
        <p:nvSpPr>
          <p:cNvPr id="39" name="Oval 38"/>
          <p:cNvSpPr/>
          <p:nvPr/>
        </p:nvSpPr>
        <p:spPr>
          <a:xfrm>
            <a:off x="8424000" y="14544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0800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링크·노드·차선별 변경 이력 패널</a:t>
            </a:r>
          </a:p>
        </p:txBody>
      </p:sp>
      <p:sp>
        <p:nvSpPr>
          <p:cNvPr id="41" name="Oval 40"/>
          <p:cNvSpPr/>
          <p:nvPr/>
        </p:nvSpPr>
        <p:spPr>
          <a:xfrm>
            <a:off x="8424000" y="17136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0800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세션 내 이력 → 서버 영구 저장 이력으로 확장</a:t>
            </a:r>
          </a:p>
        </p:txBody>
      </p:sp>
      <p:sp>
        <p:nvSpPr>
          <p:cNvPr id="43" name="Oval 42"/>
          <p:cNvSpPr/>
          <p:nvPr/>
        </p:nvSpPr>
        <p:spPr>
          <a:xfrm>
            <a:off x="8424000" y="19728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0800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특정 버전 원클릭 복원 기능</a:t>
            </a:r>
          </a:p>
        </p:txBody>
      </p:sp>
      <p:sp>
        <p:nvSpPr>
          <p:cNvPr id="45" name="Oval 44"/>
          <p:cNvSpPr/>
          <p:nvPr/>
        </p:nvSpPr>
        <p:spPr>
          <a:xfrm>
            <a:off x="8424000" y="22320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0800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변경 요약 리포트 자동 생성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000" y="25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BBCC"/>
                </a:solidFill>
              </a:rPr>
              <a:t>기대 효과  :  데이터 품질 40% 향상  ·  초기 구축 시간 60% 단축  ·  변경 추적 체계화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20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"/>
            <a:ext cx="1080000" cy="19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5999" y="125999"/>
            <a:ext cx="1007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세부과제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25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04  시뮬레이션 고도화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846000"/>
            <a:ext cx="125999" cy="171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999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실시간 시뮬레이션 연동</a:t>
            </a:r>
          </a:p>
        </p:txBody>
      </p:sp>
      <p:sp>
        <p:nvSpPr>
          <p:cNvPr id="11" name="Oval 10"/>
          <p:cNvSpPr/>
          <p:nvPr/>
        </p:nvSpPr>
        <p:spPr>
          <a:xfrm>
            <a:off x="647999" y="1195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799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WebSocket / SSE 기반 스트리밍 수신</a:t>
            </a:r>
          </a:p>
        </p:txBody>
      </p:sp>
      <p:sp>
        <p:nvSpPr>
          <p:cNvPr id="13" name="Oval 12"/>
          <p:cNvSpPr/>
          <p:nvPr/>
        </p:nvSpPr>
        <p:spPr>
          <a:xfrm>
            <a:off x="647999" y="14544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799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SUMO·VISSIM 시뮬레이터 서버 연동</a:t>
            </a:r>
          </a:p>
        </p:txBody>
      </p:sp>
      <p:sp>
        <p:nvSpPr>
          <p:cNvPr id="15" name="Oval 14"/>
          <p:cNvSpPr/>
          <p:nvPr/>
        </p:nvSpPr>
        <p:spPr>
          <a:xfrm>
            <a:off x="647999" y="17136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799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진행 중인 시뮬레이션 라이브 모니터링</a:t>
            </a:r>
          </a:p>
        </p:txBody>
      </p:sp>
      <p:sp>
        <p:nvSpPr>
          <p:cNvPr id="17" name="Oval 16"/>
          <p:cNvSpPr/>
          <p:nvPr/>
        </p:nvSpPr>
        <p:spPr>
          <a:xfrm>
            <a:off x="647999" y="19728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799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재생·정지·배속 실시간 제어</a:t>
            </a:r>
          </a:p>
        </p:txBody>
      </p:sp>
      <p:sp>
        <p:nvSpPr>
          <p:cNvPr id="19" name="Oval 18"/>
          <p:cNvSpPr/>
          <p:nvPr/>
        </p:nvSpPr>
        <p:spPr>
          <a:xfrm>
            <a:off x="647999" y="22320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799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연결 끊김 자동 재연결 및 버퍼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000" y="846000"/>
            <a:ext cx="125999" cy="1710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6000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D6A0"/>
                </a:solidFill>
              </a:rPr>
              <a:t>시나리오 이벤트 편집기</a:t>
            </a:r>
          </a:p>
        </p:txBody>
      </p:sp>
      <p:sp>
        <p:nvSpPr>
          <p:cNvPr id="24" name="Oval 23"/>
          <p:cNvSpPr/>
          <p:nvPr/>
        </p:nvSpPr>
        <p:spPr>
          <a:xfrm>
            <a:off x="4536000" y="1195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800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교통사고·공사구간·신호 고장 타임라인 삽입</a:t>
            </a:r>
          </a:p>
        </p:txBody>
      </p:sp>
      <p:sp>
        <p:nvSpPr>
          <p:cNvPr id="26" name="Oval 25"/>
          <p:cNvSpPr/>
          <p:nvPr/>
        </p:nvSpPr>
        <p:spPr>
          <a:xfrm>
            <a:off x="4536000" y="14544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800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드래그 앤 드롭 이벤트 배치 UI</a:t>
            </a:r>
          </a:p>
        </p:txBody>
      </p:sp>
      <p:sp>
        <p:nvSpPr>
          <p:cNvPr id="28" name="Oval 27"/>
          <p:cNvSpPr/>
          <p:nvPr/>
        </p:nvSpPr>
        <p:spPr>
          <a:xfrm>
            <a:off x="4536000" y="17136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800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이벤트 발생 전/후 교통 흐름 자동 비교</a:t>
            </a:r>
          </a:p>
        </p:txBody>
      </p:sp>
      <p:sp>
        <p:nvSpPr>
          <p:cNvPr id="30" name="Oval 29"/>
          <p:cNvSpPr/>
          <p:nvPr/>
        </p:nvSpPr>
        <p:spPr>
          <a:xfrm>
            <a:off x="4536000" y="19728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800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이벤트 연쇄 효과 시뮬레이션 (도미노 모델)</a:t>
            </a:r>
          </a:p>
        </p:txBody>
      </p:sp>
      <p:sp>
        <p:nvSpPr>
          <p:cNvPr id="32" name="Oval 31"/>
          <p:cNvSpPr/>
          <p:nvPr/>
        </p:nvSpPr>
        <p:spPr>
          <a:xfrm>
            <a:off x="4536000" y="22320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800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시나리오 템플릿 저장·공유 기능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8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08000" y="846000"/>
            <a:ext cx="125999" cy="1710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000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9F1C"/>
                </a:solidFill>
              </a:rPr>
              <a:t>A/B 시나리오 비교 뷰</a:t>
            </a:r>
          </a:p>
        </p:txBody>
      </p:sp>
      <p:sp>
        <p:nvSpPr>
          <p:cNvPr id="37" name="Oval 36"/>
          <p:cNvSpPr/>
          <p:nvPr/>
        </p:nvSpPr>
        <p:spPr>
          <a:xfrm>
            <a:off x="8424000" y="1195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0800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화면 분할(Split-view) 동기 재생</a:t>
            </a:r>
          </a:p>
        </p:txBody>
      </p:sp>
      <p:sp>
        <p:nvSpPr>
          <p:cNvPr id="39" name="Oval 38"/>
          <p:cNvSpPr/>
          <p:nvPr/>
        </p:nvSpPr>
        <p:spPr>
          <a:xfrm>
            <a:off x="8424000" y="14544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0800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KPI 나란히 표시 (지체·속도·대기행렬)</a:t>
            </a:r>
          </a:p>
        </p:txBody>
      </p:sp>
      <p:sp>
        <p:nvSpPr>
          <p:cNvPr id="41" name="Oval 40"/>
          <p:cNvSpPr/>
          <p:nvPr/>
        </p:nvSpPr>
        <p:spPr>
          <a:xfrm>
            <a:off x="8424000" y="17136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0800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시나리오 간 차이 히트맵 오버레이</a:t>
            </a:r>
          </a:p>
        </p:txBody>
      </p:sp>
      <p:sp>
        <p:nvSpPr>
          <p:cNvPr id="43" name="Oval 42"/>
          <p:cNvSpPr/>
          <p:nvPr/>
        </p:nvSpPr>
        <p:spPr>
          <a:xfrm>
            <a:off x="8424000" y="19728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0800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최적 시나리오 자동 추천 알고리즘</a:t>
            </a:r>
          </a:p>
        </p:txBody>
      </p:sp>
      <p:sp>
        <p:nvSpPr>
          <p:cNvPr id="45" name="Oval 44"/>
          <p:cNvSpPr/>
          <p:nvPr/>
        </p:nvSpPr>
        <p:spPr>
          <a:xfrm>
            <a:off x="8424000" y="22320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0800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비교 결과 PDF/CSV 내보내기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000" y="25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BBCC"/>
                </a:solidFill>
              </a:rPr>
              <a:t>기대 효과  :  라이브 모니터링 실현  ·  정책 시나리오 검증 효율화  ·  의사결정 지원 고도화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20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"/>
            <a:ext cx="1080000" cy="198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5999" y="125999"/>
            <a:ext cx="1007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세부과제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25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 분석 기능 확장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846000"/>
            <a:ext cx="125999" cy="171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999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교차로 성능 분석</a:t>
            </a:r>
          </a:p>
        </p:txBody>
      </p:sp>
      <p:sp>
        <p:nvSpPr>
          <p:cNvPr id="11" name="Oval 10"/>
          <p:cNvSpPr/>
          <p:nvPr/>
        </p:nvSpPr>
        <p:spPr>
          <a:xfrm>
            <a:off x="647999" y="1195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799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포화도(v/c ratio) 자동 산출</a:t>
            </a:r>
          </a:p>
        </p:txBody>
      </p:sp>
      <p:sp>
        <p:nvSpPr>
          <p:cNvPr id="13" name="Oval 12"/>
          <p:cNvSpPr/>
          <p:nvPr/>
        </p:nvSpPr>
        <p:spPr>
          <a:xfrm>
            <a:off x="647999" y="14544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799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평균 지체 및 최대 대기행렬 계산</a:t>
            </a:r>
          </a:p>
        </p:txBody>
      </p:sp>
      <p:sp>
        <p:nvSpPr>
          <p:cNvPr id="15" name="Oval 14"/>
          <p:cNvSpPr/>
          <p:nvPr/>
        </p:nvSpPr>
        <p:spPr>
          <a:xfrm>
            <a:off x="647999" y="17136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799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신호 현시 최적화 제안 엔진</a:t>
            </a:r>
          </a:p>
        </p:txBody>
      </p:sp>
      <p:sp>
        <p:nvSpPr>
          <p:cNvPr id="17" name="Oval 16"/>
          <p:cNvSpPr/>
          <p:nvPr/>
        </p:nvSpPr>
        <p:spPr>
          <a:xfrm>
            <a:off x="647999" y="19728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799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HCM 기준 서비스 수준(LOS) 등급화</a:t>
            </a:r>
          </a:p>
        </p:txBody>
      </p:sp>
      <p:sp>
        <p:nvSpPr>
          <p:cNvPr id="19" name="Oval 18"/>
          <p:cNvSpPr/>
          <p:nvPr/>
        </p:nvSpPr>
        <p:spPr>
          <a:xfrm>
            <a:off x="647999" y="22320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799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교차로 유형별 비교 벤치마크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000" y="846000"/>
            <a:ext cx="125999" cy="1710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6000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D6A0"/>
                </a:solidFill>
              </a:rPr>
              <a:t>구간 통행시간 / 속도 프로파일</a:t>
            </a:r>
          </a:p>
        </p:txBody>
      </p:sp>
      <p:sp>
        <p:nvSpPr>
          <p:cNvPr id="24" name="Oval 23"/>
          <p:cNvSpPr/>
          <p:nvPr/>
        </p:nvSpPr>
        <p:spPr>
          <a:xfrm>
            <a:off x="4536000" y="1195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800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경로 선택 → 시간대별 속도 그래프</a:t>
            </a:r>
          </a:p>
        </p:txBody>
      </p:sp>
      <p:sp>
        <p:nvSpPr>
          <p:cNvPr id="26" name="Oval 25"/>
          <p:cNvSpPr/>
          <p:nvPr/>
        </p:nvSpPr>
        <p:spPr>
          <a:xfrm>
            <a:off x="4536000" y="14544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800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Recharts 기반 인터랙티브 시각화</a:t>
            </a:r>
          </a:p>
        </p:txBody>
      </p:sp>
      <p:sp>
        <p:nvSpPr>
          <p:cNvPr id="28" name="Oval 27"/>
          <p:cNvSpPr/>
          <p:nvPr/>
        </p:nvSpPr>
        <p:spPr>
          <a:xfrm>
            <a:off x="4536000" y="17136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800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Peak/Off-peak 자동 구분 분석</a:t>
            </a:r>
          </a:p>
        </p:txBody>
      </p:sp>
      <p:sp>
        <p:nvSpPr>
          <p:cNvPr id="30" name="Oval 29"/>
          <p:cNvSpPr/>
          <p:nvPr/>
        </p:nvSpPr>
        <p:spPr>
          <a:xfrm>
            <a:off x="4536000" y="19728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800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링크 속도 이상치 감지 알림</a:t>
            </a:r>
          </a:p>
        </p:txBody>
      </p:sp>
      <p:sp>
        <p:nvSpPr>
          <p:cNvPr id="32" name="Oval 31"/>
          <p:cNvSpPr/>
          <p:nvPr/>
        </p:nvSpPr>
        <p:spPr>
          <a:xfrm>
            <a:off x="4536000" y="22320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800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FCD 실측 데이터와 시뮬레이션 비교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8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08000" y="846000"/>
            <a:ext cx="125999" cy="1710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000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9F1C"/>
                </a:solidFill>
              </a:rPr>
              <a:t>탄소 배출 추정 모듈</a:t>
            </a:r>
          </a:p>
        </p:txBody>
      </p:sp>
      <p:sp>
        <p:nvSpPr>
          <p:cNvPr id="37" name="Oval 36"/>
          <p:cNvSpPr/>
          <p:nvPr/>
        </p:nvSpPr>
        <p:spPr>
          <a:xfrm>
            <a:off x="8424000" y="1195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0800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차량 속도 프로파일 → 배출계수 적용</a:t>
            </a:r>
          </a:p>
        </p:txBody>
      </p:sp>
      <p:sp>
        <p:nvSpPr>
          <p:cNvPr id="39" name="Oval 38"/>
          <p:cNvSpPr/>
          <p:nvPr/>
        </p:nvSpPr>
        <p:spPr>
          <a:xfrm>
            <a:off x="8424000" y="14544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0800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MOVES / COPERT 배출 모델 내장</a:t>
            </a:r>
          </a:p>
        </p:txBody>
      </p:sp>
      <p:sp>
        <p:nvSpPr>
          <p:cNvPr id="41" name="Oval 40"/>
          <p:cNvSpPr/>
          <p:nvPr/>
        </p:nvSpPr>
        <p:spPr>
          <a:xfrm>
            <a:off x="8424000" y="17136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0800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차종별 CO₂·NOx·PM2.5 산출</a:t>
            </a:r>
          </a:p>
        </p:txBody>
      </p:sp>
      <p:sp>
        <p:nvSpPr>
          <p:cNvPr id="43" name="Oval 42"/>
          <p:cNvSpPr/>
          <p:nvPr/>
        </p:nvSpPr>
        <p:spPr>
          <a:xfrm>
            <a:off x="8424000" y="19728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0800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정책 시나리오별 저감 효과 비교</a:t>
            </a:r>
          </a:p>
        </p:txBody>
      </p:sp>
      <p:sp>
        <p:nvSpPr>
          <p:cNvPr id="45" name="Oval 44"/>
          <p:cNvSpPr/>
          <p:nvPr/>
        </p:nvSpPr>
        <p:spPr>
          <a:xfrm>
            <a:off x="8424000" y="22320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0800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교통영향평가 보고서 자동 연동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000" y="25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BBCC"/>
                </a:solidFill>
              </a:rPr>
              <a:t>기대 효과  :  교차로 운영 효율 15% 향상  ·  탄소 저감 정량화  ·  HCM 기준 준수 검증 자동화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20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"/>
            <a:ext cx="1080000" cy="1980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5999" y="125999"/>
            <a:ext cx="1007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세부과제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25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 UX 및 운영 편의 향상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846000"/>
            <a:ext cx="125999" cy="1710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999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4D8"/>
                </a:solidFill>
              </a:rPr>
              <a:t>시뮬레이션 영상 내보내기</a:t>
            </a:r>
          </a:p>
        </p:txBody>
      </p:sp>
      <p:sp>
        <p:nvSpPr>
          <p:cNvPr id="11" name="Oval 10"/>
          <p:cNvSpPr/>
          <p:nvPr/>
        </p:nvSpPr>
        <p:spPr>
          <a:xfrm>
            <a:off x="647999" y="1195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799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Cesium scene.postRender 프레임 캡처</a:t>
            </a:r>
          </a:p>
        </p:txBody>
      </p:sp>
      <p:sp>
        <p:nvSpPr>
          <p:cNvPr id="13" name="Oval 12"/>
          <p:cNvSpPr/>
          <p:nvPr/>
        </p:nvSpPr>
        <p:spPr>
          <a:xfrm>
            <a:off x="647999" y="14544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799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ffmpeg.wasm 기반 브라우저 내 MP4 인코딩</a:t>
            </a:r>
          </a:p>
        </p:txBody>
      </p:sp>
      <p:sp>
        <p:nvSpPr>
          <p:cNvPr id="15" name="Oval 14"/>
          <p:cNvSpPr/>
          <p:nvPr/>
        </p:nvSpPr>
        <p:spPr>
          <a:xfrm>
            <a:off x="647999" y="17136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799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구간 선택 (시작~종료 타임코드) 내보내기</a:t>
            </a:r>
          </a:p>
        </p:txBody>
      </p:sp>
      <p:sp>
        <p:nvSpPr>
          <p:cNvPr id="17" name="Oval 16"/>
          <p:cNvSpPr/>
          <p:nvPr/>
        </p:nvSpPr>
        <p:spPr>
          <a:xfrm>
            <a:off x="647999" y="19728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799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해상도·프레임레이트 설정 옵션</a:t>
            </a:r>
          </a:p>
        </p:txBody>
      </p:sp>
      <p:sp>
        <p:nvSpPr>
          <p:cNvPr id="19" name="Oval 18"/>
          <p:cNvSpPr/>
          <p:nvPr/>
        </p:nvSpPr>
        <p:spPr>
          <a:xfrm>
            <a:off x="647999" y="22320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799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발표·보고서·소셜미디어 공유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000" y="846000"/>
            <a:ext cx="125999" cy="1710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6000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D6A0"/>
                </a:solidFill>
              </a:rPr>
              <a:t>대시보드 &amp; 자동 리포트</a:t>
            </a:r>
          </a:p>
        </p:txBody>
      </p:sp>
      <p:sp>
        <p:nvSpPr>
          <p:cNvPr id="24" name="Oval 23"/>
          <p:cNvSpPr/>
          <p:nvPr/>
        </p:nvSpPr>
        <p:spPr>
          <a:xfrm>
            <a:off x="4536000" y="1195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800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시뮬레이션 종료 후 KPI 요약 화면</a:t>
            </a:r>
          </a:p>
        </p:txBody>
      </p:sp>
      <p:sp>
        <p:nvSpPr>
          <p:cNvPr id="26" name="Oval 25"/>
          <p:cNvSpPr/>
          <p:nvPr/>
        </p:nvSpPr>
        <p:spPr>
          <a:xfrm>
            <a:off x="4536000" y="14544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800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PDF 자동 생성 (교통영향평가 형식)</a:t>
            </a:r>
          </a:p>
        </p:txBody>
      </p:sp>
      <p:sp>
        <p:nvSpPr>
          <p:cNvPr id="28" name="Oval 27"/>
          <p:cNvSpPr/>
          <p:nvPr/>
        </p:nvSpPr>
        <p:spPr>
          <a:xfrm>
            <a:off x="4536000" y="17136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800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차트·지도·수치 통합 레이아웃</a:t>
            </a:r>
          </a:p>
        </p:txBody>
      </p:sp>
      <p:sp>
        <p:nvSpPr>
          <p:cNvPr id="30" name="Oval 29"/>
          <p:cNvSpPr/>
          <p:nvPr/>
        </p:nvSpPr>
        <p:spPr>
          <a:xfrm>
            <a:off x="4536000" y="19728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800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정기 배치 리포트 스케줄링</a:t>
            </a:r>
          </a:p>
        </p:txBody>
      </p:sp>
      <p:sp>
        <p:nvSpPr>
          <p:cNvPr id="32" name="Oval 31"/>
          <p:cNvSpPr/>
          <p:nvPr/>
        </p:nvSpPr>
        <p:spPr>
          <a:xfrm>
            <a:off x="4536000" y="22320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800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이메일·슬랙 자동 발송 연동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8000" y="846000"/>
            <a:ext cx="3708000" cy="171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08000" y="846000"/>
            <a:ext cx="125999" cy="1710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000" y="900000"/>
            <a:ext cx="338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9F1C"/>
                </a:solidFill>
              </a:rPr>
              <a:t>협업 및 접근성 강화</a:t>
            </a:r>
          </a:p>
        </p:txBody>
      </p:sp>
      <p:sp>
        <p:nvSpPr>
          <p:cNvPr id="37" name="Oval 36"/>
          <p:cNvSpPr/>
          <p:nvPr/>
        </p:nvSpPr>
        <p:spPr>
          <a:xfrm>
            <a:off x="8424000" y="1195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60800" y="11520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다중 사용자 동시 편집 (CRDT 기반)</a:t>
            </a:r>
          </a:p>
        </p:txBody>
      </p:sp>
      <p:sp>
        <p:nvSpPr>
          <p:cNvPr id="39" name="Oval 38"/>
          <p:cNvSpPr/>
          <p:nvPr/>
        </p:nvSpPr>
        <p:spPr>
          <a:xfrm>
            <a:off x="8424000" y="14544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60800" y="14112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역할별 권한 관리 (뷰어/편집자/관리자)</a:t>
            </a:r>
          </a:p>
        </p:txBody>
      </p:sp>
      <p:sp>
        <p:nvSpPr>
          <p:cNvPr id="41" name="Oval 40"/>
          <p:cNvSpPr/>
          <p:nvPr/>
        </p:nvSpPr>
        <p:spPr>
          <a:xfrm>
            <a:off x="8424000" y="17136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60800" y="16704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변경 사항 실시간 댓글·리뷰 기능</a:t>
            </a:r>
          </a:p>
        </p:txBody>
      </p:sp>
      <p:sp>
        <p:nvSpPr>
          <p:cNvPr id="43" name="Oval 42"/>
          <p:cNvSpPr/>
          <p:nvPr/>
        </p:nvSpPr>
        <p:spPr>
          <a:xfrm>
            <a:off x="8424000" y="19728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0800" y="19296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반응형 UI (태블릿 현장 조사 지원)</a:t>
            </a:r>
          </a:p>
        </p:txBody>
      </p:sp>
      <p:sp>
        <p:nvSpPr>
          <p:cNvPr id="45" name="Oval 44"/>
          <p:cNvSpPr/>
          <p:nvPr/>
        </p:nvSpPr>
        <p:spPr>
          <a:xfrm>
            <a:off x="8424000" y="22320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60800" y="2188800"/>
            <a:ext cx="32112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키보드 단축키 및 접근성(WCAG 2.1) 준수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000" y="25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BBCC"/>
                </a:solidFill>
              </a:rPr>
              <a:t>기대 효과  :  보고서 작성 시간 70% 단축  ·  현장 활용성 향상  ·  기관 간 협업 체계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20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25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07  연구 추진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2088000" y="792000"/>
            <a:ext cx="2340000" cy="21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0000" y="810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Q1 (1~3월)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36000" y="792000"/>
            <a:ext cx="2340000" cy="216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000" y="810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Q2 (4~6월)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83999" y="792000"/>
            <a:ext cx="2340000" cy="216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5999" y="810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Q3 (7~9월)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2000" y="792000"/>
            <a:ext cx="2340000" cy="2160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4000" y="810000"/>
            <a:ext cx="219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1B2A"/>
                </a:solidFill>
              </a:rPr>
              <a:t>Q4 (10~12월)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0000" y="1098000"/>
            <a:ext cx="1800000" cy="306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0000" y="1098000"/>
            <a:ext cx="108000" cy="30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1152000"/>
            <a:ext cx="15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네트워크 편집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2000" y="1126800"/>
            <a:ext cx="2232000" cy="25199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4000" y="1152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위상 검증 설계·구현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0000" y="1126800"/>
            <a:ext cx="2232000" cy="25199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2000" y="1152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OSM 임포트 개발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37999" y="1126800"/>
            <a:ext cx="2232000" cy="25199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0000" y="1152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Diff 시각화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6000" y="1126800"/>
            <a:ext cx="2232000" cy="251999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8000" y="1152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통합 테스트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" y="1475999"/>
            <a:ext cx="1800000" cy="306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0000" y="1475999"/>
            <a:ext cx="108000" cy="306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1530000"/>
            <a:ext cx="15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시뮬레이션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2000" y="1504800"/>
            <a:ext cx="2232000" cy="251999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14000" y="1530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WebSocket 설계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0000" y="1504800"/>
            <a:ext cx="2232000" cy="251999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2000" y="1530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실시간 연동·이벤트 편집기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37999" y="1504800"/>
            <a:ext cx="2232000" cy="251999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0000" y="1530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A/B 비교뷰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86000" y="1504800"/>
            <a:ext cx="2232000" cy="251999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8000" y="1530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안정화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0000" y="1854000"/>
            <a:ext cx="1800000" cy="306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0000" y="1854000"/>
            <a:ext cx="108000" cy="306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00" y="1908000"/>
            <a:ext cx="15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분석 기능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2000" y="1882800"/>
            <a:ext cx="2232000" cy="251999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14000" y="1908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교차로 분석 설계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000" y="1882800"/>
            <a:ext cx="2232000" cy="251999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2000" y="1908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속도 프로파일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37999" y="1882800"/>
            <a:ext cx="2232000" cy="251999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0000" y="1908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탄소 배출 모듈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86000" y="1882800"/>
            <a:ext cx="2232000" cy="251999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8000" y="1908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HCM 검증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0000" y="2232000"/>
            <a:ext cx="1800000" cy="306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0000" y="2232000"/>
            <a:ext cx="108000" cy="3060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0000" y="2286000"/>
            <a:ext cx="154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</a:rPr>
              <a:t>UX / 리포트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2000" y="2260800"/>
            <a:ext cx="2232000" cy="251999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14000" y="2286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영상 내보내기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90000" y="2260800"/>
            <a:ext cx="2232000" cy="251999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62000" y="2286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대시보드 개발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37999" y="2260800"/>
            <a:ext cx="2232000" cy="251999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10000" y="2286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PDF 자동화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86000" y="2260800"/>
            <a:ext cx="2232000" cy="251999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8000" y="2286000"/>
            <a:ext cx="2088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배포·운영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2000" y="2592000"/>
            <a:ext cx="11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BBCC"/>
                </a:solidFill>
              </a:rPr>
              <a:t>▶  중간 점검 : 6월 말   |   최종 성과물 제출 : 12월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720000"/>
            <a:ext cx="11088000" cy="25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25999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기대 효과 및 활용 방안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846000"/>
            <a:ext cx="3708000" cy="1655999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846000"/>
            <a:ext cx="3708000" cy="21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871200"/>
            <a:ext cx="3491999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기술적 성과</a:t>
            </a:r>
          </a:p>
        </p:txBody>
      </p:sp>
      <p:sp>
        <p:nvSpPr>
          <p:cNvPr id="9" name="Oval 8"/>
          <p:cNvSpPr/>
          <p:nvPr/>
        </p:nvSpPr>
        <p:spPr>
          <a:xfrm>
            <a:off x="540000" y="11772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800" y="11340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위상 검증으로 네트워크 데이터 품질 40% 향상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14544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800" y="14112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OSM 임포트로 초기 구축 시간 60% 단축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1731599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800" y="1688399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실시간 시뮬레이션 지연 &lt; 500ms 달성</a:t>
            </a:r>
          </a:p>
        </p:txBody>
      </p:sp>
      <p:sp>
        <p:nvSpPr>
          <p:cNvPr id="15" name="Oval 14"/>
          <p:cNvSpPr/>
          <p:nvPr/>
        </p:nvSpPr>
        <p:spPr>
          <a:xfrm>
            <a:off x="540000" y="2008800"/>
            <a:ext cx="79200" cy="79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800" y="19656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A/B 비교로 정책 의사결정 근거 정량화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0" y="846000"/>
            <a:ext cx="3708000" cy="1655999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0000" y="846000"/>
            <a:ext cx="3708000" cy="216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8000" y="871200"/>
            <a:ext cx="3491999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사회·경제적 효과</a:t>
            </a:r>
          </a:p>
        </p:txBody>
      </p:sp>
      <p:sp>
        <p:nvSpPr>
          <p:cNvPr id="20" name="Oval 19"/>
          <p:cNvSpPr/>
          <p:nvPr/>
        </p:nvSpPr>
        <p:spPr>
          <a:xfrm>
            <a:off x="4428000" y="11772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4800" y="11340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교통 혼잡 비용 절감 정책 수립 지원</a:t>
            </a:r>
          </a:p>
        </p:txBody>
      </p:sp>
      <p:sp>
        <p:nvSpPr>
          <p:cNvPr id="22" name="Oval 21"/>
          <p:cNvSpPr/>
          <p:nvPr/>
        </p:nvSpPr>
        <p:spPr>
          <a:xfrm>
            <a:off x="4428000" y="14544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4800" y="14112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탄소 배출 저감 시나리오 정량 제시</a:t>
            </a:r>
          </a:p>
        </p:txBody>
      </p:sp>
      <p:sp>
        <p:nvSpPr>
          <p:cNvPr id="24" name="Oval 23"/>
          <p:cNvSpPr/>
          <p:nvPr/>
        </p:nvSpPr>
        <p:spPr>
          <a:xfrm>
            <a:off x="4428000" y="1731599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4800" y="1688399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보고서 자동화로 행정 비용 70% 절감</a:t>
            </a:r>
          </a:p>
        </p:txBody>
      </p:sp>
      <p:sp>
        <p:nvSpPr>
          <p:cNvPr id="26" name="Oval 25"/>
          <p:cNvSpPr/>
          <p:nvPr/>
        </p:nvSpPr>
        <p:spPr>
          <a:xfrm>
            <a:off x="4428000" y="2008800"/>
            <a:ext cx="79200" cy="79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4800" y="19656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스마트시티 플랫폼 연계 기반 마련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8000" y="846000"/>
            <a:ext cx="3708000" cy="1655999"/>
          </a:xfrm>
          <a:prstGeom prst="rect">
            <a:avLst/>
          </a:prstGeom>
          <a:solidFill>
            <a:srgbClr val="1B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8000" y="846000"/>
            <a:ext cx="3708000" cy="2160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6000" y="871200"/>
            <a:ext cx="3491999" cy="1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활용 방안</a:t>
            </a:r>
          </a:p>
        </p:txBody>
      </p:sp>
      <p:sp>
        <p:nvSpPr>
          <p:cNvPr id="31" name="Oval 30"/>
          <p:cNvSpPr/>
          <p:nvPr/>
        </p:nvSpPr>
        <p:spPr>
          <a:xfrm>
            <a:off x="8316000" y="11772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2800" y="11340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교통영향평가 보고서 자동 생성 시스템</a:t>
            </a:r>
          </a:p>
        </p:txBody>
      </p:sp>
      <p:sp>
        <p:nvSpPr>
          <p:cNvPr id="33" name="Oval 32"/>
          <p:cNvSpPr/>
          <p:nvPr/>
        </p:nvSpPr>
        <p:spPr>
          <a:xfrm>
            <a:off x="8316000" y="14544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2800" y="14112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지자체·공공기관 교통운영 의사결정 도구</a:t>
            </a:r>
          </a:p>
        </p:txBody>
      </p:sp>
      <p:sp>
        <p:nvSpPr>
          <p:cNvPr id="35" name="Oval 34"/>
          <p:cNvSpPr/>
          <p:nvPr/>
        </p:nvSpPr>
        <p:spPr>
          <a:xfrm>
            <a:off x="8316000" y="1731599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52800" y="1688399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C-ITS / 자율주행 시뮬레이션 환경 제공</a:t>
            </a:r>
          </a:p>
        </p:txBody>
      </p:sp>
      <p:sp>
        <p:nvSpPr>
          <p:cNvPr id="37" name="Oval 36"/>
          <p:cNvSpPr/>
          <p:nvPr/>
        </p:nvSpPr>
        <p:spPr>
          <a:xfrm>
            <a:off x="8316000" y="2008800"/>
            <a:ext cx="79200" cy="7920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2800" y="1965600"/>
            <a:ext cx="33551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대학·연구기관 교육·연구 플랫폼 개방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000" y="2538000"/>
            <a:ext cx="11340000" cy="234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0000" y="2556000"/>
            <a:ext cx="1116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0D1B2A"/>
                </a:solidFill>
              </a:rPr>
              <a:t>본 연구를 통해 대한민국 교통 디지털트윈의 표준 플랫폼을 구축합니다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