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28000"/>
            <a:ext cx="12193200" cy="360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2000" y="1764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DBE9FE"/>
                </a:solidFill>
              </a:rPr>
              <a:t>광역권 모빌리티 시뮬레이션 플랫폼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000" y="2124000"/>
            <a:ext cx="1080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네트워크 타일링 · 시뮬레이션 스트리밍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2736000"/>
            <a:ext cx="10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주요 변경 내역 및 개선 과제 (상세)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3311999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</a:rPr>
              <a:t>실증 데이터: 대전·세종 전역 KTDB 표준노드링크 — 링크 62,434개 / 노드 47,181개 / 더미 차량 186,110대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2000" y="4680000"/>
            <a:ext cx="108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GAIA3D  ·  IITP 광역권 도시 차세대 AI 융합 모빌리티 과제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296000" cy="2664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195200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00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왜 이 작업이 필요했나 — 전체 일괄 로드 구조의 물리적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기존 구조는 시나리오를 열 때 네트워크와 시뮬레이션 데이터 전체를 브라우저에 내려받아 한 번에 그리는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206000"/>
            <a:ext cx="5544000" cy="22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기존 구조 (전체 일괄 로드)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1576800"/>
            <a:ext cx="486000" cy="180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15875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</a:rPr>
              <a:t>문제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000" y="15768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시나리오를 열면 화면이 멈추거나 아예 뜨지 않음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000" y="1745999"/>
            <a:ext cx="4680000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대전·세종 네트워크는 XML 106MB. 브라우저가 이걸 통째로 다운로드→파싱→3D 오브젝트로 빌드하는 동안 화면이 수십 초간 멈추고, 느린 환경에서는 소켓 타임아웃으로 아예 빈 화면이 됨.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2307599"/>
            <a:ext cx="486000" cy="180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23183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</a:rPr>
              <a:t>문제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000" y="2307599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메모리 한계 — 대도시 1개가 상한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000" y="2476799"/>
            <a:ext cx="4680000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실측 결과 전체-로드 방식은 브라우저 8GB 힙에서 약 20만 링크가 한계. 수도권 환산 시 네트워크만 ~1GB, 차량 시뮬레이션은 수 GB 이상이라 광역권 확장이 원천 불가능.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3038399"/>
            <a:ext cx="486000" cy="180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30491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</a:rPr>
              <a:t>문제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000" y="3038399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시뮬레이션 결과도 같은 구조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8000" y="3207599"/>
            <a:ext cx="4680000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차량 궤적을 CZML(전체 차량·전체 시간)로 한 번에 반환. 대전·세종 규모(18.6만 대)는 생성 단계에서 서버 메모리 초과(OOM)로 크래시 — 생성 자체가 불가능했음.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8000" y="1206000"/>
            <a:ext cx="5544000" cy="22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전환 방향 (viewport 스트리밍)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6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8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72000" y="1548000"/>
            <a:ext cx="52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</a:rPr>
              <a:t>핵심 아이디어: “지금 화면에 보이는 것만, 보이는 수준(LOD)으로”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2600" y="1866599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6000" y="1818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공간을 자른다 (타일)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6000" y="1976400"/>
            <a:ext cx="5076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지도를 경위도 격자로 나눠, 카메라 화면과 겹치는 타일만 서버에서 받아온다. 화면을 벗어난 타일은 메모리에서 회수(LRU).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2600" y="2550599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16000" y="2501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디테일을 자른다 (LOD)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6000" y="2660400"/>
            <a:ext cx="5076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멀리서는 고속도로 골격만, 가까이서는 차선·교차로 구성요소까지 — 카메라 거리(픽셀 해상도)에 따라 5단계로 응답 내용을 다르게.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2600" y="3234600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16000" y="3186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시간을 자른다 (시간창)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16000" y="3344399"/>
            <a:ext cx="5076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차량 궤적은 재생 중인 시각 주변 몇 분 치만 로드하고, 창이 소진되기 전에 다음 창을 미리 받아 끊김 없이 이어재생.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2600" y="3918600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16000" y="3870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서버가 자른다 (인덱스)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6000" y="4028400"/>
            <a:ext cx="5076000" cy="41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자르는 계산은 서버의 공간 인덱스(SQLite RTree)가 담당 — 클라이언트는 조각만 받으므로 데이터 총량과 무관하게 동작.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368000" cy="266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2671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01 핵심 성과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핵심 성과 요약 — Before / 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아래 수치는 모두 대전·세종 실데이터로 브라우저(E2E)·API에서 직접 측정한 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1188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75569"/>
                </a:solidFill>
              </a:rPr>
              <a:t>항목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1999" y="1188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DC2626"/>
                </a:solidFill>
              </a:rPr>
              <a:t>이전 (Before)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000" y="1188000"/>
            <a:ext cx="28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59669"/>
                </a:solidFill>
              </a:rPr>
              <a:t>현재 (After)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4800" y="1440000"/>
            <a:ext cx="11376000" cy="943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96000" y="1411200"/>
            <a:ext cx="11376000" cy="9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6000" y="1411200"/>
            <a:ext cx="36000" cy="943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2000" y="1735200"/>
            <a:ext cx="22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426"/>
                </a:solidFill>
              </a:rPr>
              <a:t>네트워크 초기 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51999" y="1634400"/>
            <a:ext cx="331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106MB 전체 다운로드+파싱 → 수십 초 멈춤,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51999" y="1857600"/>
            <a:ext cx="331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타임아웃 시 빈 화면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6000" y="17532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8000" y="16344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1426"/>
                </a:solidFill>
              </a:rPr>
              <a:t>viewport 타일만 로드 — 진입 후 ~17초에 지도 표시,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8000" y="18576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1426"/>
                </a:solidFill>
              </a:rPr>
              <a:t>네트워크 위치로 카메라 자동 이동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800" y="2484000"/>
            <a:ext cx="11376000" cy="943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96000" y="2455200"/>
            <a:ext cx="11376000" cy="9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96000" y="2455200"/>
            <a:ext cx="36000" cy="943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2000" y="2779200"/>
            <a:ext cx="22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426"/>
                </a:solidFill>
              </a:rPr>
              <a:t>시뮬레이션 차량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51999" y="2678400"/>
            <a:ext cx="331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18.6만 대 생성 시도 → 서버 OOM 크래시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51999" y="2901600"/>
            <a:ext cx="331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(이벤트 4,830만 건을 메모리에 전부 적재)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6000" y="27972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8000" y="26784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1426"/>
                </a:solidFill>
              </a:rPr>
              <a:t>스트리밍 생성 70초 완료. 재생은 화면·시간창 단위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8000" y="29016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1426"/>
                </a:solidFill>
              </a:rPr>
              <a:t>(화면당 최대 1,500대, 초과 시 히트맵 자동 전환)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4800" y="3528000"/>
            <a:ext cx="11376000" cy="943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000" y="3499200"/>
            <a:ext cx="11376000" cy="9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000" y="3499200"/>
            <a:ext cx="36000" cy="94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2000" y="3823200"/>
            <a:ext cx="22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426"/>
                </a:solidFill>
              </a:rPr>
              <a:t>브라우저 메모리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51999" y="3722400"/>
            <a:ext cx="331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JS Heap ~1GB 이상, 프레임 한 자리까지 하락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76000" y="38412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8000" y="37224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1426"/>
                </a:solidFill>
              </a:rPr>
              <a:t>220MB 수준 — 화면 밖 데이터를 지우는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8000" y="3945599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1426"/>
                </a:solidFill>
              </a:rPr>
              <a:t>거리 기반 생명주기로 총량 자체를 제한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24800" y="4572000"/>
            <a:ext cx="11376000" cy="9432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6000" y="4543200"/>
            <a:ext cx="11376000" cy="9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96000" y="4543200"/>
            <a:ext cx="36000" cy="94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2000" y="4867200"/>
            <a:ext cx="226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1426"/>
                </a:solidFill>
              </a:rPr>
              <a:t>서버 디스크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51999" y="4766400"/>
            <a:ext cx="331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임시 DB 사본이 요청마다 생성·미삭제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51999" y="4989600"/>
            <a:ext cx="3311999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→ 70GB 누적 (디스크 풀 실사고)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976000" y="4885200"/>
            <a:ext cx="3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8000" y="47664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1426"/>
                </a:solidFill>
              </a:rPr>
              <a:t>시나리오당 사본 1개 캐시 재사용 + 데이터 변경 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8000" y="4989600"/>
            <a:ext cx="5400000" cy="23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D1426"/>
                </a:solidFill>
              </a:rPr>
              <a:t>무효화 연동 — 누수 원천 차단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691999" cy="266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5911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02 네트워크 타일링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네트워크 타일링 ① — 어떻게 동작하나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임포트할 때 공간 인덱스를 한 번 만들어 두고, 이후엔 카메라가 움직일 때마다 화면 범위(bbox)만 조회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206000"/>
            <a:ext cx="5544000" cy="223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데이터 흐름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000" y="1565999"/>
            <a:ext cx="525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D4ED8"/>
                </a:solidFill>
              </a:rPr>
              <a:t>1. 임포트 (1회)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1724400"/>
            <a:ext cx="5256000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KTDB 표준노드링크를 network.xml로 변환하면서, 링크·노드를 SQLite에 넣고 RTree 공간 인덱스를 빌드. 파일은 서버 디스크에 영속 저장 → 서버를 재시작해도 재임포트 불필요.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2304000"/>
            <a:ext cx="525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D4ED8"/>
                </a:solidFill>
              </a:rPr>
              <a:t>2. 시나리오 진입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2462400"/>
            <a:ext cx="5256000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클라이언트는 전체 데이터를 받지 않는다. 대신 extent API로 네트워크 전체 범위만 조회해 카메라를 그 위치로 이동 (시나리오 등록 좌표가 실제 데이터 위치와 다른 사례가 있어 등록 좌표는 신뢰하지 않음).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3041999"/>
            <a:ext cx="525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D4ED8"/>
                </a:solidFill>
              </a:rPr>
              <a:t>3. 카메라 정착 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200399"/>
            <a:ext cx="5256000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화면 중앙의 지면 거리로 픽셀 해상도(m/px)를 계산해 LOD 단계를 정하고, 화면이 덮는 bbox와 겹치는 타일만 요청. 이미 받은 타일은 캐시에서 재사용.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0000" y="3780000"/>
            <a:ext cx="525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D4ED8"/>
                </a:solidFill>
              </a:rPr>
              <a:t>4. 화면 이탈 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0000" y="3938400"/>
            <a:ext cx="5256000" cy="4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안 보이게 된 타일은 LRU로 회수(최대 64타일 유지). 진행 중이던 요청도 즉시 취소(Abort)해 빠른 줌/팬 중 중간 단계 요청이 쌓여 로딩이 밀리는 것을 방지.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8000" y="1206000"/>
            <a:ext cx="5544000" cy="223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8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LOD 5단계 — 거리에 따라 다른 응답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56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8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2000" y="1565999"/>
            <a:ext cx="900000" cy="21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2000" y="1587599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macro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2000" y="1587599"/>
            <a:ext cx="10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</a:rPr>
              <a:t>~26km+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4000" y="1573199"/>
            <a:ext cx="331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고속도로급 골격만 (속도 90+ 또는 6차선+).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4000" y="1731599"/>
            <a:ext cx="331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전국/광역 조망에서 큰 구조가 보이도록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72000" y="2149200"/>
            <a:ext cx="900000" cy="216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21708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overview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2000" y="2170800"/>
            <a:ext cx="10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</a:rPr>
              <a:t>8~26km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4000" y="2156399"/>
            <a:ext cx="331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간선도로 중심선. 차선수에 비례한 굵기로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24000" y="2314800"/>
            <a:ext cx="331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도로 위계가 눈에 들어오게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72000" y="2732400"/>
            <a:ext cx="900000" cy="216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72000" y="27540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mid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2000" y="2754000"/>
            <a:ext cx="10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</a:rPr>
              <a:t>1.5~8km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24000" y="2739600"/>
            <a:ext cx="331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집산도로까지 포함한 중심선 — 줌인할수록 조밀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72000" y="3315600"/>
            <a:ext cx="900000" cy="21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72000" y="33372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near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2000" y="3337200"/>
            <a:ext cx="10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</a:rPr>
              <a:t>310m~1.5km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24000" y="3322800"/>
            <a:ext cx="331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도로 폭 폴리곤(차선 데이터 제외한 경량).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24000" y="3481200"/>
            <a:ext cx="331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+3배 넓은 중심선 베이스로 타일 경계 끊김 방지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72000" y="3898800"/>
            <a:ext cx="900000" cy="21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72000" y="3920400"/>
            <a:ext cx="9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2000" y="3920400"/>
            <a:ext cx="1044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475569"/>
                </a:solidFill>
              </a:rPr>
              <a:t>~310m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24000" y="3906000"/>
            <a:ext cx="331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차선 구분선·중앙선 + 노드/포트/커넥션.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24000" y="4064400"/>
            <a:ext cx="3311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응답에서 셀·구간 등 렌더 미사용 데이터 제거(수 배 축소)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691999" cy="2664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5911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02 네트워크 타일링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네트워크 타일링 ② — “네트워크가 사라진다” 를 잡기까지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실사용 중 간헐적으로 도로가 통째로 사라지던 증상 — 서로 겹친 4개의 독립 원인을 재현·수정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188000"/>
            <a:ext cx="5544000" cy="22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1213199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원인 1·2 — 지워 놓고 다시 못 그리는 레이스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" y="1440000"/>
            <a:ext cx="5544000" cy="15659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411200"/>
            <a:ext cx="5544000" cy="1565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1551600"/>
            <a:ext cx="486000" cy="180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1562400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</a:rPr>
              <a:t>원인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000" y="15516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load() 재진입 시 전면 삭제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000" y="1720800"/>
            <a:ext cx="46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2D 지도가 데이터를 동기화할 때마다 3D 초기화가 재진입해 모든 도로를 지웠는데, 타일 캐시는 “이미 로드됨” 상태라 다시 그리지 않음 → 영구 소실. 모드 전환 시에만 정리하도록 수정.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2192400"/>
            <a:ext cx="486000" cy="180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2203200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</a:rPr>
              <a:t>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000" y="21924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지형 미로딩 시 조회 포기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000" y="2361600"/>
            <a:ext cx="46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줌 직후 지형 타일이 아직 없으면 화면 중심 계산이 실패하는데 재시도가 없어, 카메라가 멈춰 있으면 타일 요청이 영영 시작되지 않음 → 타원체 폴백 + 1초 재시도 추가.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6000" y="3096000"/>
            <a:ext cx="5544000" cy="22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000" y="312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원인 3·4 — 렌더 루프와 LOD 경계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4800" y="3348000"/>
            <a:ext cx="5544000" cy="1565999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96000" y="3319200"/>
            <a:ext cx="5544000" cy="156599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0000" y="3459600"/>
            <a:ext cx="486000" cy="180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0000" y="3470400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</a:rPr>
              <a:t>원인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8000" y="34596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요청 시 렌더 모드의 함정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8000" y="3628800"/>
            <a:ext cx="46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성능을 위해 “필요할 때만 프레임을 그리는” 모드 사용 중 — 카메라가 멈춘 뒤 도착한 도로는 프레임이 돌지 않아 준비가 영영 끝나지 않음. 준비될 때까지 렌더를 요청하는 펌프 추가(상한 없음).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0000" y="4100399"/>
            <a:ext cx="486000" cy="180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0000" y="4111200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</a:rPr>
              <a:t>원인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8000" y="4100399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LOD 경계에서의 왕복 진동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8000" y="4269600"/>
            <a:ext cx="468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near/detail 경계 고도에서 계산이 순간 요동하면 전체 타일을 지우고 다시 받기를 반복. 4초 이상 안정적으로 줌아웃일 때만 회수하는 히스테리시스 적용.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8000" y="1188000"/>
            <a:ext cx="5544000" cy="22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000" y="1213199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검증 방법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6800" y="1440000"/>
            <a:ext cx="5544000" cy="347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28000" y="1411200"/>
            <a:ext cx="5544000" cy="34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2000" y="1530000"/>
            <a:ext cx="5256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59669"/>
                </a:solidFill>
              </a:rPr>
              <a:t>Playwright 브라우저 자동화로 실제 앱을 구동해 재현 → 수정 → 재검증을 반복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2600" y="1848600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6000" y="1800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증상 재현 스크립트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6000" y="1958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경계 고도 왕복(260↔500m ×6), detail 연속 팬 ×6, 줌아웃 후 즉시 복귀, 90초 방치 — 각 시나리오에서 화면의 도로 프리미티브 수를 직접 계측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2600" y="2550600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6000" y="2502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수정 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16000" y="2660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30초 방치 시 도로 수 2→0 (소실 재현), 250m 순간이동 후 타일 요청 0건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2600" y="3252600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6000" y="3204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수정 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16000" y="3362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전 시나리오에서 도로 수 유지(29개 안정), 요청 정상 발화, 페이지 에러 0건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2600" y="3954600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16000" y="3906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부수 발견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16000" y="4064399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줌 애니메이션 중 중간 배율의 타일 요청 수백 개가 브라우저 동시연결(6개)을 고갈시켜 “무한 로딩”처럼 보이던 문제 — 화면 밖 요청 즉시 취소로 해소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475999" cy="266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3751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03 3D 렌더링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3D 렌더링 ① — 도로가 땅속에 있거나, 땅에 묻히거나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높이를 직접 지정하던 방식의 구조적 딜레마를 “지형 표면에 붙이는” 방식으로 전환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206000"/>
            <a:ext cx="5544000" cy="22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문제와 원인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1576800"/>
            <a:ext cx="486000" cy="180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15875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</a:rPr>
              <a:t>문제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000" y="15768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도로가 지형을 투과해 땅속에 보임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000" y="1745999"/>
            <a:ext cx="46800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도로를 그릴 높이를 “지형 고도 샘플링 평균 + 몇 cm”로 직접 계산했는데, 지형 서버 응답 실패나 고도 불일치가 있으면 도로가 고도 0(해수면)에 그려짐. 대전은 지대가 높아 도로가 수십 m 땅속에 위치.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2379600"/>
            <a:ext cx="486000" cy="180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23903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</a:rPr>
              <a:t>원인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000" y="23796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깊이 검사의 딜레마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000" y="2548799"/>
            <a:ext cx="46800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깊이 검사를 끄면 땅속 도로가 지형을 뚫고 비쳐 보이고(투과), 켜면 지형보다 낮은 도로가 완전히 가려져 안 보임. 높이를 직접 지정하는 한 어느 쪽을 선택해도 문제가 남는 구조.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3182399"/>
            <a:ext cx="486000" cy="1800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31931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D4ED8"/>
                </a:solidFill>
              </a:rPr>
              <a:t>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000" y="3182399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GroundPrimitive (지형 클램프) 전환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8000" y="3351599"/>
            <a:ext cx="4680000" cy="5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높이 계산을 아예 버리고 Cesium이 도로를 지형 표면에 “드레이프”하도록 변경. 지형이 늦게 로드되거나 고도가 달라도 항상 표면 위. 부수 효과로 지형 샘플링 대기가 사라져 타일 표시가 즉시화.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8000" y="1206000"/>
            <a:ext cx="5544000" cy="223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함께 정리한 정합 이슈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6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8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2600" y="1614599"/>
            <a:ext cx="46800" cy="4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6000" y="1565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3D Tiles와의 공존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6000" y="1724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도로를 지형에만 붙이면 3D 건물/정밀지형 타일셋을 켰을 때 도로가 그 밑에 가려짐 — 지형+타일셋 양쪽 표면에 드레이프(BOTH)로 통일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2600" y="2352599"/>
            <a:ext cx="46800" cy="4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6000" y="2304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상·하행 도로 분리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6000" y="2462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KTDB는 상행과 하행이 같은 중심선 좌표를 공유하는 별도 링크 — 그대로 그리면 도로 두 장이 완전히 겹침. 진행방향 우측으로 반 폭 이동시켜 실도로처럼 중앙선 양쪽으로 분리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2600" y="3090599"/>
            <a:ext cx="46800" cy="4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6000" y="3041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좌표 정제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6000" y="3200399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클러스터 병합 과정에서 생긴 급반전 좌표(150° 이상 꺾임)가 차선 계산을 무너뜨려 구분선이 직각으로 꺾이던 것 — 좌표 정제 단계에서 필터링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2600" y="3828600"/>
            <a:ext cx="46800" cy="4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6000" y="3780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카메라 자동 이동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6000" y="3938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시나리오 진입 시 서버 extent API(네트워크 실제 범위)로 카메라 이동 — 등록 좌표(부천)와 데이터(대전)가 다른 실사례 대응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475999" cy="2664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3751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03 3D 렌더링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3D 렌더링 ② — “카메라를 돌리면 무늬가 돌아간다”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지형 드레이프 렌더의 시점 의존 아티팩트 — 완화가 아니라 원인 요소를 제거하는 방식으로 해결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206000"/>
            <a:ext cx="5544000" cy="22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시점 의존 아티팩트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1576800"/>
            <a:ext cx="486000" cy="180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15875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</a:rPr>
              <a:t>문제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000" y="15768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레인 회색면이 카메라 각도 따라 뒤틀림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000" y="1745999"/>
            <a:ext cx="468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차선마다 깔던 회색 교차 음영(레인 채움면)이 카메라를 돌리면 함께 돌아가는 것처럼 보임. 지형 드레이프는 3차원 볼륨을 표면에 투영하는 방식이라, 좁고 긴 면은 시선 각도에 따라 투영 결과가 달라짐.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2343600"/>
            <a:ext cx="486000" cy="1800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23543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D4ED8"/>
                </a:solidFill>
              </a:rPr>
              <a:t>해결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000" y="23436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아티팩트 진원지 자체를 제거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000" y="2512800"/>
            <a:ext cx="468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각도별 보정 대신 레인 채움면을 없애고, 차선 표기를 흰 구분선+황색 중앙선(픽셀 폭 선)으로 일원화 — 실제 도로 표기이자 SUMO 등 시뮬레이터 표준 방식. 픽셀 폭 선은 시점과 무관하게 안정.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3110399"/>
            <a:ext cx="486000" cy="18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3121200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59669"/>
                </a:solidFill>
              </a:rPr>
              <a:t>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000" y="3110399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형상 안정 + 메모리 절감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8000" y="3279600"/>
            <a:ext cx="468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카메라 회전 시 무늬 변형 소멸. 레인면이 지오메트리의 대부분이었어서 브라우저 메모리도 585MB → 220MB로 감소, 타일 빌드도 그만큼 빨라짐.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8000" y="1206000"/>
            <a:ext cx="5544000" cy="22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성능 — 프레임이 한 자리로 떨어지던 원인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6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8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72000" y="1576800"/>
            <a:ext cx="486000" cy="180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2000" y="15875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97706"/>
                </a:solidFill>
              </a:rPr>
              <a:t>원인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30000" y="15768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화면 밖 오브젝트도 CPU를 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30000" y="1745999"/>
            <a:ext cx="468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노드·포트·커넥션 아이콘(엔티티)은 “멀면 안 그리는” GPU 컬링을 걸어도, 존재하는 한 매 프레임 CPU 처리 대상. 팬을 하다 보면 수천 개가 누적돼 FPS가 한 자리로 하락 (4,597개 실측).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72000" y="2343600"/>
            <a:ext cx="486000" cy="1800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2000" y="23543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D4ED8"/>
                </a:solidFill>
              </a:rPr>
              <a:t>해결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30000" y="23436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거리 기반 생명주기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30000" y="2512800"/>
            <a:ext cx="468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카메라 1km 진입 시 생성, 1.3km 이탈 시 삭제(데이터는 캐시에 있어 재진입 시 재생성). “안 보이게”가 아니라 “존재 자체를” 화면 주변으로 제한해 총량을 수백 개로 유지.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72000" y="3110399"/>
            <a:ext cx="486000" cy="18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2000" y="3121200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59669"/>
                </a:solidFill>
              </a:rPr>
              <a:t>효과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30000" y="3110399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엔티티 4,597 → 645개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30000" y="3279600"/>
            <a:ext cx="468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같은 위치·같은 줌에서 엔티티 86% 감소, 힙 697→262MB. 도로 클릭 시 차선이 아닌 도로 링크가 선택되도록 픽 해석도 일원화.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368000" cy="266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2671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04 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시뮬레이션 ① — 18.6만 대를 OOM 없이 만들기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차량 수 상한(1만 대)으로 회피하던 것을, 생성 파이프라인 자체를 스트리밍으로 바꿔 제한 해제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206000"/>
            <a:ext cx="5544000" cy="22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생성 단계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0000" y="1576800"/>
            <a:ext cx="486000" cy="1800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0000" y="15875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DC2626"/>
                </a:solidFill>
              </a:rPr>
              <a:t>문제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8000" y="15768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대전·세종 전역에 차가 5대만 보임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000" y="1745999"/>
            <a:ext cx="468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도로 연장 기반 적정 차량 수는 12,407km × 15대/km = 186,110대. 하지만 생성 시 이벤트 4,830만 건을 리스트에 전부 쌓은 뒤 DB에 쓰는 구조라 서버 힙이 터짐(OOM) → 임시로 1만 대 상한을 걸어 밀도가 1/18로.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0000" y="2343600"/>
            <a:ext cx="486000" cy="180000"/>
          </a:xfrm>
          <a:prstGeom prst="rect">
            <a:avLst/>
          </a:prstGeom>
          <a:solidFill>
            <a:srgbClr val="DB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0000" y="2354399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D4ED8"/>
                </a:solidFill>
              </a:rPr>
              <a:t>해결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8000" y="2343600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Consumer 스트리밍 생성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000" y="2512800"/>
            <a:ext cx="468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차량 시뮬레이션 코어가 이벤트를 리스트에 모으는 대신 콜백(sink)으로 흘려보내고, sink가 SQLite에 5만 건 단위로 직접 기록. 메모리에는 항상 차량 1대분만 존재 — 이벤트 수와 무관하게 동작.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0000" y="3110399"/>
            <a:ext cx="486000" cy="1800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0000" y="3121200"/>
            <a:ext cx="486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59669"/>
                </a:solidFill>
              </a:rPr>
              <a:t>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8000" y="3110399"/>
            <a:ext cx="46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186,110대 / 70초 / 크래시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8000" y="3279600"/>
            <a:ext cx="4680000" cy="5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전 지역 정상 밀도로 생성. 진행률(“15만/18.6만대”)이 지도 상단에 실시간 표시. 생성물은 대용량이므로 전체 CZML을 만들지 않고(largeMode) viewport 스트리밍이 서빙.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8000" y="1206000"/>
            <a:ext cx="5544000" cy="22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함께 잡은 서버 이슈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6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8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2600" y="1614599"/>
            <a:ext cx="46800" cy="4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6000" y="1565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디스크 70GB 누수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6000" y="1724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교통량 히트맵이 1초마다 집계 API를 부르는데, 호출마다 120MB DB 사본을 만들고 지우지 않음 — 임시 사본 621개(70GB) 실측. 시나리오당 사본 1개를 캐시 재사용하도록 전면 수정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2600" y="2352599"/>
            <a:ext cx="46800" cy="4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6000" y="2304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무한 재생성 루프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6000" y="2462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OOM은 Exception이 아닌 Error 계열이라 실패 등록을 우회 → 프론트 폴링이 생성을 무한 재시작해 OOM이 반복. Throwable 처리로 실패를 확정시켜 루프 차단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2600" y="3090599"/>
            <a:ext cx="46800" cy="4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6000" y="3041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대용량 가드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6000" y="3200399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이벤트 500만 건 초과 DB는 전체 CZML 빌드 진입 자체를 차단하고 largeMode 응답 — 실수로 전체 로드를 트리거해도 서버가 죽지 않음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2600" y="3828600"/>
            <a:ext cx="46800" cy="4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6000" y="3780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의도치 않은 더미 생성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6000" y="3938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시나리오를 열기만 해도 데이터가 없으면 자동으로 더미를 만들던 경로 분리 — 존재 확인 후 로드, 생성은 명시적 버튼으로만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368000" cy="266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2671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04 시뮬레이션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시뮬레이션 ② — 화면과 재생 시각 기준으로만 차량을 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차량은 시공간 데이터 — 공간(bbox)과 시간(재생 창)을 함께 잘라야 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206000"/>
            <a:ext cx="5544000" cy="2232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선별 방식 (서버)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00" y="1614599"/>
            <a:ext cx="46800" cy="4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1565999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“창 안에 화면을 지나는 차”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" y="17244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화면 bbox 안의 도로(네트워크 RTree 재사용)를, 재생 시간창 안에 한 번이라도 지나는 차량을 선별. 화면 밖에서 진입 예정인 차도 미리 포함되어 경계에서 뿅 나타나지 않음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600" y="2352599"/>
            <a:ext cx="46800" cy="4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2304000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궤적은 통째로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" y="24624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선별된 차량은 창 안의 전체 궤적(화면 밖 구간 포함)을 반환 — 차가 화면을 나갔다 들어와도 보간(부드러운 이동)이 끊기지 않음. 창 양끝 ±60초 버퍼로 경계 보간도 연속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600" y="3090599"/>
            <a:ext cx="46800" cy="4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000" y="3041999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붐비면 오래 보이는 차 우선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" y="3200399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화면당 상한(1,500대) 초과 시 화면 체류시간이 긴 차량부터 선별 + 결정적 정렬 — 창이 갱신될 때 차들이 무작위로 바뀌며 깜빡이지 않음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600" y="3828600"/>
            <a:ext cx="46800" cy="468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000" y="3780000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응답 속도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" y="39384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네트워크 파싱·좌표 변환기를 시나리오당 1회 캐시 — 첫 요청 4.6초, 이후 0.9초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8000" y="1206000"/>
            <a:ext cx="5544000" cy="22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재생 경험 (클라이언트)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6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8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2600" y="1614599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6000" y="1565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끊김 없는 이어재생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6000" y="1724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재생 시각이 창의 끝 30초 전에 도달하면 다음 창을 미리 로드. 화면을 움직여 데이터를 새로 받아도 재생 시각을 보존 — “팬하면 0초로 돌아가던” 문제 수정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2600" y="2352599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6000" y="2304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밀집 시 표현 자동 전환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6000" y="2462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화면 안 차량이 1,500대를 넘으면 개별 차량 대신 링크별 교통량 히트맵으로 전환, 줌인해서 줄어들면 개별 차량 복귀 (경계 진동 방지 히스테리시스 + 최소 4초 간격)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2600" y="3090599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6000" y="3041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항상 보이는 상태 배지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6000" y="3200399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지도 좌하단에 “차량 823대 표시 / 전체 1,204대” — 지금 화면이 전체인지 일부인지, 히트맵 모드인지 즉시 인지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2600" y="3828600"/>
            <a:ext cx="46800" cy="46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6000" y="3780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배속 회귀 수정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6000" y="3938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재생 배속에 비례해 시간창을 무제한 확장하던 로직이 수천 대 로드→FPS 6을 유발 — 창 상한 300초 + 벽시계 8초 최소 재요청 간격으로 안정화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368000" cy="266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2671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05 개선 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향후 개선 과제 ① — 단기 (P1 실사용 마감 · P2 확장)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P1: 이번 작업의 잔여 검증과 마감 / P2: 같은 패턴을 다른 데이터로 확장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206000"/>
            <a:ext cx="5544000" cy="22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P1 — 실사용 검증·마감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00" y="1614599"/>
            <a:ext cx="46800" cy="46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1565999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3D 형상 실기기 최종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" y="17244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시점 의존 아티팩트 수정이 headless 검증까지 완료된 상태 — 실제 GPU/모니터 환경에서 카메라 회전·틸트 시 잔여 아티팩트 여부 최종 확인 필요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600" y="2352599"/>
            <a:ext cx="46800" cy="46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2304000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타일 모드 편집 저장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" y="24624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편집 중 동결·삭제 추적·diff 저장 로직은 구현·단위검증 완료. 브라우저에서 실제 그리기→수정→저장→재로드 사이클 검증 필요 (전체 덮어쓰기 저장과의 충돌이 유일한 위험 지점)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600" y="3090599"/>
            <a:ext cx="46800" cy="46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000" y="3041999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2D/3D 도로 표현 통일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" y="3200399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3D는 상·하행 분리를 위해 우측 오프셋 적용, 2D는 아직 중심선 배치 — 같은 도로가 두 지도에서 다른 위치에 보임. 2D에도 동일 오프셋 적용 여부 결정 필요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600" y="3828600"/>
            <a:ext cx="46800" cy="46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000" y="3780000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재생 중 재로드 체감 측정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" y="39384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viewport 이동 시 차량 데이터 교체(worker 전체 재빌드)의 순간 끊김 정도를 실사용 기준으로 측정 — 심하면 P3의 증분 빌드로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8000" y="1206000"/>
            <a:ext cx="5544000" cy="22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P2 — 시설물·데이터 확장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6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8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2600" y="1614599"/>
            <a:ext cx="46800" cy="46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6000" y="1565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시설물 공용 타일 서비스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6000" y="1724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버스/철도 정류장, 노면표시, 노선을 신호와 같은 패턴(SQLite+RTree, bbox API)으로 — 신호 타일링이 이미 같은 구조로 완성되어 있어 복제 비용 낮음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2600" y="2352599"/>
            <a:ext cx="46800" cy="46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6000" y="2304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실 시뮬레이터(NEXTSIM) 연동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6000" y="2462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지금까지는 더미 생성기로 검증 — 실제 시뮬레이터가 출력한 vehicle_sim.db 스키마로 스트리밍 파이프라인 전 구간 검증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2600" y="3090599"/>
            <a:ext cx="46800" cy="46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6000" y="3041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정밀도로지도·3D Tiles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6000" y="3200399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OpenDRIVE 기반 정밀도로지도 및 건물 3D Tiles와의 표시 정합(BOTH 드레이프) 검증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2600" y="3828600"/>
            <a:ext cx="46800" cy="46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6000" y="3780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road_class 도입 대비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6000" y="3938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현재 LOD 랭크는 차선수/제한속도 프록시 — 데이터에 도로 등급이 들어오면 프록시 로직만 교체하면 되도록 격리되어 있음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368000" cy="266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267199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05 개선 과제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향후 개선 과제 ② — 구조 개선(P3) 및 환경 이슈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동작은 하지만 구조적으로 더 나은 형태가 있는 항목들 — 중장기 리팩터링 후보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1206000"/>
            <a:ext cx="5544000" cy="223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6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P3 — 구조 개선 (중장기)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4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96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98600" y="1614599"/>
            <a:ext cx="46800" cy="4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000" y="1565999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초기화 상태머신화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" y="17244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타일/레이어 초기화의 레이스 조건들을 개별 가드(재진입 방지, 폴링, 재시도)로 잡아 둔 상태 — 명시적 상태머신으로 재편하면 “조작하다 보면 엉키는 느낌”의 잔여 가능성 원천 제거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8600" y="2352599"/>
            <a:ext cx="46800" cy="4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000" y="2304000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차량 worker 증분 빌드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000" y="24624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viewport 이동 시 차량 보간 테이블을 전체 재빌드 — 차량 인덱스 매핑(궤적·꼬리·모델 3개 소비자)이 얽혀 있어 대형 작업이지만, 재생 중 끊김의 근본 해소책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600" y="3090599"/>
            <a:ext cx="46800" cy="4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000" y="3041999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네트워크 3D Tiles 정적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" y="3200399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도로를 매번 실시간 드레이프하는 대신 3D Tiles로 사전 생성 — 렌더 비용을 근본적으로 낮추고 시점 아티팩트 자유도 확보 (설계 문서 작성됨)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600" y="3828600"/>
            <a:ext cx="46800" cy="46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000" y="3780000"/>
            <a:ext cx="5184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LOD 경계 상수 단일화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000" y="3938400"/>
            <a:ext cx="5148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2D(해상도)와 3D(고도) LOD 경계 환산이 근사치로 이원화 — 단일 출처로 정리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8000" y="1206000"/>
            <a:ext cx="5544000" cy="2232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18000" y="12312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환경·인프라 (별도 트랙)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56800" y="1458000"/>
            <a:ext cx="5544000" cy="320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28000" y="1429200"/>
            <a:ext cx="5544000" cy="320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2600" y="1614599"/>
            <a:ext cx="46800" cy="46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6000" y="1565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지형 서버 인증서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6000" y="1724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자체서명 인증서라 새 브라우저/시크릿 모드에서 지형 로드가 조용히 실패 — 3D가 검게 보이는 첫인상 문제. 신뢰 인증서 전환 또는 프록시 필요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2600" y="2352599"/>
            <a:ext cx="46800" cy="46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6000" y="2304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Cesium Ion 토큰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6000" y="2462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만료된 토큰(401)이 콘솔 에러를 지속 발생 — 지형 폴백 경로 정리 겸 토큰 갱신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2600" y="3090599"/>
            <a:ext cx="46800" cy="46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6000" y="3041999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Naver 지도 연동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16000" y="3200399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2D 배경 Naver 지도 연동 진행 중 — SDK 인증 실패가 Cesium 렌더 루프를 멈추던 문제에 가드 적용됨. 키/도메인 등록 후 활성화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02600" y="3828600"/>
            <a:ext cx="46800" cy="468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16000" y="3780000"/>
            <a:ext cx="5112000" cy="16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D1426"/>
                </a:solidFill>
              </a:rPr>
              <a:t>데이터 정합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6000" y="3938400"/>
            <a:ext cx="50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</a:rPr>
              <a:t>KTDB 변환 XML의 구성요소 구조가 파서 기대와 달라 포트/커넥션이 조용히 유실되던 문제 수정 — 유사 불일치의 자동 검증(스키마 테스트) 추가 고려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439200"/>
          </a:xfrm>
          <a:prstGeom prst="rect">
            <a:avLst/>
          </a:prstGeom>
          <a:solidFill>
            <a:srgbClr val="0D14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9200"/>
            <a:ext cx="12193200" cy="2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8000" y="108000"/>
            <a:ext cx="25200" cy="22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7200" y="129600"/>
            <a:ext cx="1368000" cy="18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GAIA3D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2000" y="86400"/>
            <a:ext cx="1296000" cy="266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2000" y="86400"/>
            <a:ext cx="64800" cy="26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58400" y="100800"/>
            <a:ext cx="1195200" cy="23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요약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6000" y="540000"/>
            <a:ext cx="1080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1426"/>
                </a:solidFill>
              </a:rPr>
              <a:t>정량 요약 및 결론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820799"/>
            <a:ext cx="111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475569"/>
                </a:solidFill>
              </a:rPr>
              <a:t>측정 조건: 대전·세종 KTDB 실데이터 (링크 62,434 / 노드 47,181), 브라우저 E2E·API 직접 계측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4800" y="1252800"/>
            <a:ext cx="2808000" cy="77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6000" y="1224000"/>
            <a:ext cx="2808000" cy="7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6000" y="1224000"/>
            <a:ext cx="36000" cy="774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4000" y="13248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4ED8"/>
                </a:solidFill>
              </a:rPr>
              <a:t>62,434 링크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000" y="1648800"/>
            <a:ext cx="262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전국급 네트워크 스트리밍
(전체-로드 한계 ~10만 링크 돌파)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76800" y="1252800"/>
            <a:ext cx="2808000" cy="77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8000" y="1224000"/>
            <a:ext cx="2808000" cy="7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48000" y="1224000"/>
            <a:ext cx="36000" cy="774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000" y="13248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891B2"/>
                </a:solidFill>
              </a:rPr>
              <a:t>186,110 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000" y="1648800"/>
            <a:ext cx="262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차량 스트리밍 생성 70초
(기존: 서버 OOM 크래시)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28799" y="1252800"/>
            <a:ext cx="2808000" cy="77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00000" y="1224000"/>
            <a:ext cx="2808000" cy="7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0000" y="1224000"/>
            <a:ext cx="36000" cy="774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8000" y="13248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59669"/>
                </a:solidFill>
              </a:rPr>
              <a:t>0.9 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8000" y="1648800"/>
            <a:ext cx="262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viewport 차량 응답(캐시 후)
첫 요청 4.6초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0800" y="1252800"/>
            <a:ext cx="2808000" cy="77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252000" y="1224000"/>
            <a:ext cx="2808000" cy="7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252000" y="1224000"/>
            <a:ext cx="36000" cy="774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60000" y="13248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7C3AED"/>
                </a:solidFill>
              </a:rPr>
              <a:t>220 MB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60000" y="1648800"/>
            <a:ext cx="262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JS Heap (기존 ~1GB+)
엔티티 4,597 → 645개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4800" y="2170800"/>
            <a:ext cx="2808000" cy="77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96000" y="2142000"/>
            <a:ext cx="2808000" cy="7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6000" y="2142000"/>
            <a:ext cx="36000" cy="774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4000" y="22428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D4ED8"/>
                </a:solidFill>
              </a:rPr>
              <a:t>~17 초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000" y="2566800"/>
            <a:ext cx="262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시나리오 진입→지도 표시
(106MB 일괄 다운로드 제거)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376800" y="2170800"/>
            <a:ext cx="2808000" cy="77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348000" y="2142000"/>
            <a:ext cx="2808000" cy="7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348000" y="2142000"/>
            <a:ext cx="36000" cy="774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56000" y="22428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C2626"/>
                </a:solidFill>
              </a:rPr>
              <a:t>70 GB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56000" y="2566800"/>
            <a:ext cx="262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서버 디스크 누수 회수
(DB 사본 캐시화)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328799" y="2170800"/>
            <a:ext cx="2808000" cy="77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00000" y="2142000"/>
            <a:ext cx="2808000" cy="7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300000" y="2142000"/>
            <a:ext cx="36000" cy="774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8000" y="22428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D97706"/>
                </a:solidFill>
              </a:rPr>
              <a:t>5 단계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8000" y="2566800"/>
            <a:ext cx="262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LOD (macro~detail)
+ 밀집 히트맵 자동 전환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280800" y="2170800"/>
            <a:ext cx="2808000" cy="774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252000" y="2142000"/>
            <a:ext cx="2808000" cy="7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52000" y="2142000"/>
            <a:ext cx="36000" cy="774000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360000" y="2242800"/>
            <a:ext cx="2628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0891B2"/>
                </a:solidFill>
              </a:rPr>
              <a:t>100 %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0000" y="2566800"/>
            <a:ext cx="2628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75569"/>
                </a:solidFill>
              </a:rPr>
              <a:t>additive API 설계
기존 경로 무중단 병존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96000" y="3150000"/>
            <a:ext cx="11520000" cy="22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6000" y="3175200"/>
            <a:ext cx="11376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결론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24800" y="3401999"/>
            <a:ext cx="11520000" cy="1206000"/>
          </a:xfrm>
          <a:prstGeom prst="rect">
            <a:avLst/>
          </a:prstGeom>
          <a:solidFill>
            <a:srgbClr val="D8E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96000" y="3373199"/>
            <a:ext cx="11520000" cy="120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0000" y="3491999"/>
            <a:ext cx="1123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426"/>
                </a:solidFill>
              </a:rPr>
              <a:t>“전부 내려받아 전부 그린다” 구조를 “보이는 것만, 보이는 수준으로” 스트리밍하는 구조로 전환했다. 공간(타일)·디테일(LOD 5단계)·시간(재생 창) 세 축으로 데이터를 자르고, 서버 공간 인덱스가 그 계산을 담당한다.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0000" y="3906000"/>
            <a:ext cx="11232000" cy="6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1426"/>
                </a:solidFill>
              </a:rPr>
              <a:t>이로써 단일 도시(~10만 링크)가 한계였던 플랫폼이 광역권 전체(대전·세종, 링크 6.2만 + 차량 18.6만 대)를 단일 브라우저 세션에서 구동함을 실증했다. 모든 신규 API는 기존 경로와 병존(additive)하므로 무중단 적용이 가능하며, 동일 패턴을 신호·시설물·실 시뮬레이터 결과로 확장하는 기반이 마련되었다.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